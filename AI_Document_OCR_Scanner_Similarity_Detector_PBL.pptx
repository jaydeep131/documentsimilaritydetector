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82880"/>
            <a:ext cx="108173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8BDF8"/>
                </a:solidFill>
                <a:latin typeface="Segoe UI"/>
              </a:defRPr>
            </a:pPr>
            <a:r>
              <a:t>AI-Based Document Similarity &amp; Duplicate Detection System Using NLP</a:t>
            </a:r>
          </a:p>
          <a:p>
            <a:pPr algn="ctr">
              <a:spcBef>
                <a:spcPts val="400"/>
              </a:spcBef>
              <a:defRPr sz="1600">
                <a:solidFill>
                  <a:srgbClr val="94A3B8"/>
                </a:solidFill>
                <a:latin typeface="Segoe UI"/>
              </a:defRPr>
            </a:pPr>
            <a:r>
              <a:t>PBL Task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A3E635"/>
                </a:solidFill>
                <a:latin typeface="Segoe UI"/>
              </a:rPr>
              <a:t>Subject: </a:t>
            </a:r>
            <a:r>
              <a:rPr sz="2000" b="1">
                <a:solidFill>
                  <a:srgbClr val="FFFFFF"/>
                </a:solidFill>
                <a:latin typeface="Segoe UI"/>
              </a:rPr>
              <a:t>Python for Data Science (BE05000231)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286000"/>
            <a:ext cx="10817352" cy="3931920"/>
          </a:xfrm>
          <a:prstGeom prst="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56032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700">
                <a:solidFill>
                  <a:srgbClr val="38BDF8"/>
                </a:solidFill>
                <a:latin typeface="Segoe UI"/>
              </a:rPr>
              <a:t>NAME 1: </a:t>
            </a:r>
            <a:r>
              <a:rPr sz="1700">
                <a:solidFill>
                  <a:srgbClr val="FFFFFF"/>
                </a:solidFill>
                <a:latin typeface="Segoe UI"/>
              </a:rPr>
              <a:t>Nimavat Jaydeep M.</a:t>
            </a:r>
          </a:p>
          <a:p>
            <a:pPr>
              <a:spcBef>
                <a:spcPts val="400"/>
              </a:spcBef>
            </a:pPr>
            <a:r>
              <a:rPr b="1" sz="1700">
                <a:solidFill>
                  <a:srgbClr val="38BDF8"/>
                </a:solidFill>
                <a:latin typeface="Segoe UI"/>
              </a:rPr>
              <a:t>ENROLLMENT 1: </a:t>
            </a:r>
            <a:r>
              <a:rPr sz="1700">
                <a:solidFill>
                  <a:srgbClr val="FFFFFF"/>
                </a:solidFill>
                <a:latin typeface="Segoe UI"/>
              </a:rPr>
              <a:t>250043107032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256032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700">
                <a:solidFill>
                  <a:srgbClr val="38BDF8"/>
                </a:solidFill>
                <a:latin typeface="Segoe UI"/>
              </a:rPr>
              <a:t>NAME 2: </a:t>
            </a:r>
            <a:r>
              <a:rPr sz="1700">
                <a:solidFill>
                  <a:srgbClr val="FFFFFF"/>
                </a:solidFill>
                <a:latin typeface="Segoe UI"/>
              </a:rPr>
              <a:t>Upadhyay Hitarth S.</a:t>
            </a:r>
          </a:p>
          <a:p>
            <a:pPr>
              <a:spcBef>
                <a:spcPts val="400"/>
              </a:spcBef>
            </a:pPr>
            <a:r>
              <a:rPr b="1" sz="1700">
                <a:solidFill>
                  <a:srgbClr val="38BDF8"/>
                </a:solidFill>
                <a:latin typeface="Segoe UI"/>
              </a:rPr>
              <a:t>ENROLLMENT 2: </a:t>
            </a:r>
            <a:r>
              <a:rPr sz="1700">
                <a:solidFill>
                  <a:srgbClr val="FFFFFF"/>
                </a:solidFill>
                <a:latin typeface="Segoe UI"/>
              </a:rPr>
              <a:t>250043107050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31920"/>
            <a:ext cx="9966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700">
                <a:solidFill>
                  <a:srgbClr val="38BDF8"/>
                </a:solidFill>
                <a:latin typeface="Segoe UI"/>
              </a:rPr>
              <a:t>BRANCH: </a:t>
            </a:r>
            <a:r>
              <a:rPr sz="1700">
                <a:solidFill>
                  <a:srgbClr val="FFFFFF"/>
                </a:solidFill>
                <a:latin typeface="Segoe UI"/>
              </a:rPr>
              <a:t>Computer Engineering     |     </a:t>
            </a:r>
            <a:r>
              <a:rPr b="1" sz="1700">
                <a:solidFill>
                  <a:srgbClr val="38BDF8"/>
                </a:solidFill>
                <a:latin typeface="Segoe UI"/>
              </a:rPr>
              <a:t>SEMESTER: </a:t>
            </a:r>
            <a:r>
              <a:rPr sz="1700">
                <a:solidFill>
                  <a:srgbClr val="FFFFFF"/>
                </a:solidFill>
                <a:latin typeface="Segoe UI"/>
              </a:rPr>
              <a:t>5th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663440"/>
            <a:ext cx="9966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700">
                <a:solidFill>
                  <a:srgbClr val="38BDF8"/>
                </a:solidFill>
                <a:latin typeface="Segoe UI"/>
              </a:rPr>
              <a:t>COLLEGE: </a:t>
            </a:r>
            <a:r>
              <a:rPr sz="1700">
                <a:solidFill>
                  <a:srgbClr val="FFFFFF"/>
                </a:solidFill>
                <a:latin typeface="Segoe UI"/>
              </a:rPr>
              <a:t>B H Gardi College Of Engineering And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Document Plagiarism is a critical issue in digital classrooms and professional domains.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Traditional checkers cannot inspect scanned books, images, or offline note photos.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Data Privacy is often violated by third-party checkers uploading files to external servers.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Our project builds a 100% serverless, private tool to scan documents and check similarity directly in the browser.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2.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100% Browser-Based Web Application.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Integrates local OCR, PDF, and DOCX parsers.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Runs NLP Text Cleaning and Tokenization on-device.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Computes similarity match indexes dynamically.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Renders a clean glassmorphic presentation dashboard.</a:t>
            </a:r>
          </a:p>
        </p:txBody>
      </p:sp>
      <p:pic>
        <p:nvPicPr>
          <p:cNvPr id="4" name="Picture 3" descr="ui_emp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45920"/>
            <a:ext cx="4919472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3.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Inability to Parse Scanned Books/Photos: Students often upload photos of pages which standard text matchers ignore.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Server Dependencies &amp; Network Timeouts: Local Python servers run slowly and fail behind university proxies (WinError 10060).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Security &amp; Document Exposure: Commercial checkers keep copies of submitted assignments, creating data leak risks.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Complex UI: Traditional dashboards are cluttered and slow to load on mobile devices.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4.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Serverless Architecture: Build a completely client-side tool requiring zero backend execution.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Universal Scanned Ingestion: Enable reading text from images (Tesseract.js) and PDFs (PDF.js).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Fast Plagiarism Checks: Run standard similarity calculations (Cosine &amp; Jaccard index) in milliseconds.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Safe &amp; Private Checking: Ensure that files are parsed in the browser and never uploaded to any remote host.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5. Project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Eliminating Installation Hurdles: Moving away from heavy local Python setups that require installing PyTorch/OpenCV.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Internet-Independent Scans: Caching language models inside browser storage for offline execution.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Cost-Free Deployment: Building static files (HTML/CSS/JS) that host for free on Netlify.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Responsive Presentability: Creating a tool that can be used on any smartphone in a live presentation room.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6. Existing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Heavy Server-Side Frameworks: Standard custom solutions require Python backend processes.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Network Blockage Constraints: Downloading neural net models (EasyOCR) causes `WinError 10060` connection timeouts in terminals.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Proprietary Checking Subscriptions: Teachers and students depend on paid accounts (Turnitin, Copyleaks).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Heavy Resource Footprint: Spawning sub-processes slows down browsers and eats RAM.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7. Proposed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Client-Side JavaScript Application: Runs entirely inside the local browser window.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CDN Integration: Loads stable parsers (Tesseract.js, PDF.js, Mammoth.js) directly.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On-Device OCR Execution: Uses Web Workers to scan photos locally.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Interactive Dashboard: Instant comparisons and sandbox files.</a:t>
            </a:r>
          </a:p>
        </p:txBody>
      </p:sp>
      <p:pic>
        <p:nvPicPr>
          <p:cNvPr id="4" name="Picture 3" descr="ui_sand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45920"/>
            <a:ext cx="4919472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8. 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Browser OCR (Tesseract.js): Scans text from JPG, PNG, and JPEG notes directly.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Binary File Parsers: Reads PDF (PDF.js) and DOCX (Mammoth.js) without backend parsers.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SVG Circular progress gauge: Animates dynamically based on matching score.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Turnitin-Style Diff highlighting: Colors matching segments in orange.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Citation Filter: Toggles ignoring quotes ('...') from the comparison.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9.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Core Language: JavaScript (ES6+), HTML5, CSS3 Variables.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Optical Character Recognition (OCR): Tesseract.js (v5, compiled in WebAssembly).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PDF Parser: Mozilla's PDF.js (v3.11.174).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Word Parser: Mammoth.js (v1.6.0).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Hosting: Netlify Continuous Deployment (Git-Synced).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10.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Input Layer: HTML drag-and-drop file inputs or raw copy-paste text areas.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Native Extractor: FileReader API converts file bytes into array buffers.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Parsing Engine: Tesseract, PDF.js, or Mammoth.js processes buffers into clean string arrays.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Math Processor: JavaScript calculates Cosine vector distances and Jaccard intersections.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Visual Output: Updates SVG dash-array and highlighted spans dynamically.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11. System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Start: User opens index.html in browser.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Load: CDNs fetch parsers and initialize Tesseract workers.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Input: User uploads document photos or pastes notes.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Click: Form submission triggers the extraction loader overlay.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Process: Client scans images, extracts text, runs comparison math.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Output: Displays gauge percentage and side-by-side matches.</a:t>
            </a:r>
          </a:p>
        </p:txBody>
      </p:sp>
      <p:pic>
        <p:nvPicPr>
          <p:cNvPr id="4" name="Picture 3" descr="ocr_sc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45920"/>
            <a:ext cx="4919472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12. Input 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FileReader API: Asynchronously reads local file bytes in the browser.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Array Buffer Extraction: Reads DOCX and PDF as raw byte arrays for Mammoth and PDF.js.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Data URL Extraction: Reads JPG and PNG files as base64 URLs for image display previews.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State Sync: Automatically fills text areas with the extracted text for editing.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13. Document 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PDF.js Processing: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  - `pdfjsLib.getDocument()` parses PDF arrayBuffer into document objects.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  - Iterates page-by-page to fetch text elements via `page.getTextContent()`.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Mammoth.js Processing: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  - `mammoth.extractRawText()` converts Word DOCX XML blocks into clean paragraphs.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  - Strips layout formatting metadata to retrieve pure string arrays.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14. Image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Status: Not available in the current implementation.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Rationale: In our browser-native client app, images are fed directly to Tesseract.js in their raw state.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Tesseract.js handles thresholding and binarization internally within its compiled WebAssembly core.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Future Scope: Can integrate canvas-based threshold filters to improve scanning accuracy on blurry pages.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15. OCR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Tesseract.js WebAssembly Port: Compiles Google's neural network OCR to browser-executable binary.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Web Worker Sandbox: Spawns offline worker threads, leaving the main UI thread lag-free.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Local Language Cache: Downloads the English language training set once and caches it in IndexedDB.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Real-time progress updates: Logs execution percentages dynamically to show scanning status.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16. OCR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0292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The OCR extraction is called inside a Promise.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Tesseract.recognize accepts the image file.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A logger callback tracks progress.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Displays percentage live in the loader overlay.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Extracted text is returned to the parser route.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0" y="1645920"/>
            <a:ext cx="5559552" cy="3840480"/>
          </a:xfrm>
          <a:prstGeom prst="rect">
            <a:avLst/>
          </a:prstGeom>
          <a:solidFill>
            <a:srgbClr val="0A0F1D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 rIns="137160" bIns="137160"/>
          <a:lstStyle/>
          <a:p>
            <a:pPr algn="ctr">
              <a:spcAft>
                <a:spcPts val="200"/>
              </a:spcAft>
            </a:pPr>
            <a:r>
              <a:rPr sz="1200">
                <a:solidFill>
                  <a:srgbClr val="38BDF8"/>
                </a:solidFill>
                <a:latin typeface="Consolas"/>
              </a:rPr>
              <a:t>Tesseract</a:t>
            </a:r>
            <a:r>
              <a:rPr sz="1200">
                <a:solidFill>
                  <a:srgbClr val="F1F5F9"/>
                </a:solidFill>
                <a:latin typeface="Consolas"/>
              </a:rPr>
              <a:t>.</a:t>
            </a:r>
            <a:r>
              <a:rPr sz="1200">
                <a:solidFill>
                  <a:srgbClr val="F1F5F9"/>
                </a:solidFill>
                <a:latin typeface="Consolas"/>
              </a:rPr>
              <a:t>recognize</a:t>
            </a:r>
            <a:r>
              <a:rPr sz="1200">
                <a:solidFill>
                  <a:srgbClr val="F1F5F9"/>
                </a:solidFill>
                <a:latin typeface="Consolas"/>
              </a:rPr>
              <a:t>(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F1F5F9"/>
                </a:solidFill>
                <a:latin typeface="Consolas"/>
              </a:rPr>
              <a:t>    </a:t>
            </a:r>
            <a:r>
              <a:rPr sz="1200">
                <a:solidFill>
                  <a:srgbClr val="F1F5F9"/>
                </a:solidFill>
                <a:latin typeface="Consolas"/>
              </a:rPr>
              <a:t>file</a:t>
            </a:r>
            <a:r>
              <a:rPr sz="1200">
                <a:solidFill>
                  <a:srgbClr val="F1F5F9"/>
                </a:solidFill>
                <a:latin typeface="Consolas"/>
              </a:rPr>
              <a:t>,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F1F5F9"/>
                </a:solidFill>
                <a:latin typeface="Consolas"/>
              </a:rPr>
              <a:t>    </a:t>
            </a:r>
            <a:r>
              <a:rPr sz="1200">
                <a:solidFill>
                  <a:srgbClr val="FDBA74"/>
                </a:solidFill>
                <a:latin typeface="Consolas"/>
              </a:rPr>
              <a:t>'eng'</a:t>
            </a:r>
            <a:r>
              <a:rPr sz="1200">
                <a:solidFill>
                  <a:srgbClr val="F1F5F9"/>
                </a:solidFill>
                <a:latin typeface="Consolas"/>
              </a:rPr>
              <a:t>,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F1F5F9"/>
                </a:solidFill>
                <a:latin typeface="Consolas"/>
              </a:rPr>
              <a:t>    </a:t>
            </a:r>
            <a:r>
              <a:rPr sz="1200">
                <a:solidFill>
                  <a:srgbClr val="F1F5F9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F1F5F9"/>
                </a:solidFill>
                <a:latin typeface="Consolas"/>
              </a:rPr>
              <a:t>        </a:t>
            </a:r>
            <a:r>
              <a:rPr sz="1200">
                <a:solidFill>
                  <a:srgbClr val="F1F5F9"/>
                </a:solidFill>
                <a:latin typeface="Consolas"/>
              </a:rPr>
              <a:t>logger</a:t>
            </a:r>
            <a:r>
              <a:rPr sz="1200">
                <a:solidFill>
                  <a:srgbClr val="F1F5F9"/>
                </a:solidFill>
                <a:latin typeface="Consolas"/>
              </a:rPr>
              <a:t>: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m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=&gt;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F1F5F9"/>
                </a:solidFill>
                <a:latin typeface="Consolas"/>
              </a:rPr>
              <a:t>            </a:t>
            </a:r>
            <a:r>
              <a:rPr sz="1200" b="1">
                <a:solidFill>
                  <a:srgbClr val="F472B6"/>
                </a:solidFill>
                <a:latin typeface="Consolas"/>
              </a:rPr>
              <a:t>if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(</a:t>
            </a:r>
            <a:r>
              <a:rPr sz="1200">
                <a:solidFill>
                  <a:srgbClr val="F1F5F9"/>
                </a:solidFill>
                <a:latin typeface="Consolas"/>
              </a:rPr>
              <a:t>m</a:t>
            </a:r>
            <a:r>
              <a:rPr sz="1200">
                <a:solidFill>
                  <a:srgbClr val="F1F5F9"/>
                </a:solidFill>
                <a:latin typeface="Consolas"/>
              </a:rPr>
              <a:t>.</a:t>
            </a:r>
            <a:r>
              <a:rPr sz="1200">
                <a:solidFill>
                  <a:srgbClr val="F1F5F9"/>
                </a:solidFill>
                <a:latin typeface="Consolas"/>
              </a:rPr>
              <a:t>status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===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DBA74"/>
                </a:solidFill>
                <a:latin typeface="Consolas"/>
              </a:rPr>
              <a:t>'recognizing text'</a:t>
            </a:r>
            <a:r>
              <a:rPr sz="1200">
                <a:solidFill>
                  <a:srgbClr val="F1F5F9"/>
                </a:solidFill>
                <a:latin typeface="Consolas"/>
              </a:rPr>
              <a:t>)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F1F5F9"/>
                </a:solidFill>
                <a:latin typeface="Consolas"/>
              </a:rPr>
              <a:t>                </a:t>
            </a:r>
            <a:r>
              <a:rPr sz="1200" b="1">
                <a:solidFill>
                  <a:srgbClr val="F472B6"/>
                </a:solidFill>
                <a:latin typeface="Consolas"/>
              </a:rPr>
              <a:t>const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pct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=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Math</a:t>
            </a:r>
            <a:r>
              <a:rPr sz="1200">
                <a:solidFill>
                  <a:srgbClr val="F1F5F9"/>
                </a:solidFill>
                <a:latin typeface="Consolas"/>
              </a:rPr>
              <a:t>.</a:t>
            </a:r>
            <a:r>
              <a:rPr sz="1200">
                <a:solidFill>
                  <a:srgbClr val="F1F5F9"/>
                </a:solidFill>
                <a:latin typeface="Consolas"/>
              </a:rPr>
              <a:t>round</a:t>
            </a:r>
            <a:r>
              <a:rPr sz="1200">
                <a:solidFill>
                  <a:srgbClr val="F1F5F9"/>
                </a:solidFill>
                <a:latin typeface="Consolas"/>
              </a:rPr>
              <a:t>(</a:t>
            </a:r>
            <a:r>
              <a:rPr sz="1200">
                <a:solidFill>
                  <a:srgbClr val="F1F5F9"/>
                </a:solidFill>
                <a:latin typeface="Consolas"/>
              </a:rPr>
              <a:t>m</a:t>
            </a:r>
            <a:r>
              <a:rPr sz="1200">
                <a:solidFill>
                  <a:srgbClr val="F1F5F9"/>
                </a:solidFill>
                <a:latin typeface="Consolas"/>
              </a:rPr>
              <a:t>.</a:t>
            </a:r>
            <a:r>
              <a:rPr sz="1200">
                <a:solidFill>
                  <a:srgbClr val="F1F5F9"/>
                </a:solidFill>
                <a:latin typeface="Consolas"/>
              </a:rPr>
              <a:t>progress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*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818CF8"/>
                </a:solidFill>
                <a:latin typeface="Consolas"/>
              </a:rPr>
              <a:t>100</a:t>
            </a:r>
            <a:r>
              <a:rPr sz="1200">
                <a:solidFill>
                  <a:srgbClr val="F1F5F9"/>
                </a:solidFill>
                <a:latin typeface="Consolas"/>
              </a:rPr>
              <a:t>);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F1F5F9"/>
                </a:solidFill>
                <a:latin typeface="Consolas"/>
              </a:rPr>
              <a:t>                </a:t>
            </a:r>
            <a:r>
              <a:rPr sz="1200">
                <a:solidFill>
                  <a:srgbClr val="F1F5F9"/>
                </a:solidFill>
                <a:latin typeface="Consolas"/>
              </a:rPr>
              <a:t>updateStatus</a:t>
            </a:r>
            <a:r>
              <a:rPr sz="1200">
                <a:solidFill>
                  <a:srgbClr val="F1F5F9"/>
                </a:solidFill>
                <a:latin typeface="Consolas"/>
              </a:rPr>
              <a:t>(`📷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Scanning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Image</a:t>
            </a:r>
            <a:r>
              <a:rPr sz="1200">
                <a:solidFill>
                  <a:srgbClr val="F1F5F9"/>
                </a:solidFill>
                <a:latin typeface="Consolas"/>
              </a:rPr>
              <a:t>: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${</a:t>
            </a:r>
            <a:r>
              <a:rPr sz="1200">
                <a:solidFill>
                  <a:srgbClr val="F1F5F9"/>
                </a:solidFill>
                <a:latin typeface="Consolas"/>
              </a:rPr>
              <a:t>pct</a:t>
            </a:r>
            <a:r>
              <a:rPr sz="1200">
                <a:solidFill>
                  <a:srgbClr val="F1F5F9"/>
                </a:solidFill>
                <a:latin typeface="Consolas"/>
              </a:rPr>
              <a:t>}%`);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F1F5F9"/>
                </a:solidFill>
                <a:latin typeface="Consolas"/>
              </a:rPr>
              <a:t>            </a:t>
            </a:r>
            <a:r>
              <a:rPr sz="1200">
                <a:solidFill>
                  <a:srgbClr val="F1F5F9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F1F5F9"/>
                </a:solidFill>
                <a:latin typeface="Consolas"/>
              </a:rPr>
              <a:t>        </a:t>
            </a:r>
            <a:r>
              <a:rPr sz="1200">
                <a:solidFill>
                  <a:srgbClr val="F1F5F9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F1F5F9"/>
                </a:solidFill>
                <a:latin typeface="Consolas"/>
              </a:rPr>
              <a:t>    </a:t>
            </a:r>
            <a:r>
              <a:rPr sz="1200">
                <a:solidFill>
                  <a:srgbClr val="F1F5F9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F1F5F9"/>
                </a:solidFill>
                <a:latin typeface="Consolas"/>
              </a:rPr>
              <a:t>).</a:t>
            </a:r>
            <a:r>
              <a:rPr sz="1200" b="1">
                <a:solidFill>
                  <a:srgbClr val="F472B6"/>
                </a:solidFill>
                <a:latin typeface="Consolas"/>
              </a:rPr>
              <a:t>then</a:t>
            </a:r>
            <a:r>
              <a:rPr sz="1200">
                <a:solidFill>
                  <a:srgbClr val="F1F5F9"/>
                </a:solidFill>
                <a:latin typeface="Consolas"/>
              </a:rPr>
              <a:t>(({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data</a:t>
            </a:r>
            <a:r>
              <a:rPr sz="1200">
                <a:solidFill>
                  <a:srgbClr val="F1F5F9"/>
                </a:solidFill>
                <a:latin typeface="Consolas"/>
              </a:rPr>
              <a:t>: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{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text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}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})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=&gt;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F1F5F9"/>
                </a:solidFill>
                <a:latin typeface="Consolas"/>
              </a:rPr>
              <a:t>    </a:t>
            </a:r>
            <a:r>
              <a:rPr sz="1200" b="1">
                <a:solidFill>
                  <a:srgbClr val="F472B6"/>
                </a:solidFill>
                <a:latin typeface="Consolas"/>
              </a:rPr>
              <a:t>resolve</a:t>
            </a:r>
            <a:r>
              <a:rPr sz="1200">
                <a:solidFill>
                  <a:srgbClr val="F1F5F9"/>
                </a:solidFill>
                <a:latin typeface="Consolas"/>
              </a:rPr>
              <a:t>(</a:t>
            </a:r>
            <a:r>
              <a:rPr sz="1200">
                <a:solidFill>
                  <a:srgbClr val="F1F5F9"/>
                </a:solidFill>
                <a:latin typeface="Consolas"/>
              </a:rPr>
              <a:t>text</a:t>
            </a:r>
            <a:r>
              <a:rPr sz="1200">
                <a:solidFill>
                  <a:srgbClr val="F1F5F9"/>
                </a:solidFill>
                <a:latin typeface="Consolas"/>
              </a:rPr>
              <a:t>);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F1F5F9"/>
                </a:solidFill>
                <a:latin typeface="Consolas"/>
              </a:rPr>
              <a:t>});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17. OCR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String Generation: Outputs a clean text string containing all recognized characters and symbols.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Syncing fields: Extracted text is automatically entered into the text areas for verification.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Visual preview: Displays a base64 preview of the original photographed note right above the results.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Stats counter: Calculates total words and characters found in the scanned image.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18. Text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Lowercasing: `text.toLowerCase()` avoids matches failing due to capitalization differences.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Punctuation Stripping: `.replace(/[^\w\s]/g, '')` strips periods, commas, and question marks.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Spaces Trimming: `.trim()` removes trailing spaces.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RegEx word boundary splits: `.split(/\s+/)` cleans double-spaces to generate a clean array of words.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19. NLP 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Tokenization: Splits text strings into individual word token arrays.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Vocabulary Sets: Javascript `Set` creates unique list vectors of words.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Array transformations: Converts vocab lists into structured frequency arrays for math models.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Clean Input: Normalization removes duplicate spaces, preparing the data for similarity models.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20. Feature Extraction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Vocabulary Union Vector: Compares word sets from both documents to create a master list of all unique words.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Word Count Maps: Creates key-value frequency objects for both Document A and Document B.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Indexing coordinates: Maps the frequency values matching the master list order to represent both documents as vectors.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Ready for similarity: High-performance representation built entirely dynamically in JavaScript.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21. Term Frequency (TF) Vector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Actual Method in Code: Dynamic Word Frequency Vectors.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Step 1: Combine both documents' word arrays to create a master Vocabulary Union Set.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Step 2: Initialize frequency map objects (frequency arrays) mapping each vocab word to 0.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Step 3: Populate counts by iterating through both text arrays.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Step 4: Map values to numerical arrays representing vectors, ready for Cosine Distance calculation.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22. Cosine Similarity Vector Math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0292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Represents both texts as vectors.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Calculates Dot Product by multiplying matching frequencies.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Divides by the product of their Vector Magnitudes.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Outputs similarity score on scale 0% to 100%.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Keeps matching accurate regardless of text length differences.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0" y="1645920"/>
            <a:ext cx="5559552" cy="3840480"/>
          </a:xfrm>
          <a:prstGeom prst="rect">
            <a:avLst/>
          </a:prstGeom>
          <a:solidFill>
            <a:srgbClr val="0A0F1D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 rIns="137160" bIns="137160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472B6"/>
                </a:solidFill>
                <a:latin typeface="Consolas"/>
              </a:rPr>
              <a:t>let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dotProduct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=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818CF8"/>
                </a:solidFill>
                <a:latin typeface="Consolas"/>
              </a:rPr>
              <a:t>0</a:t>
            </a:r>
            <a:r>
              <a:rPr sz="1200">
                <a:solidFill>
                  <a:srgbClr val="F1F5F9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F472B6"/>
                </a:solidFill>
                <a:latin typeface="Consolas"/>
              </a:rPr>
              <a:t>let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mag1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=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818CF8"/>
                </a:solidFill>
                <a:latin typeface="Consolas"/>
              </a:rPr>
              <a:t>0</a:t>
            </a:r>
            <a:r>
              <a:rPr sz="1200">
                <a:solidFill>
                  <a:srgbClr val="F1F5F9"/>
                </a:solidFill>
                <a:latin typeface="Consolas"/>
              </a:rPr>
              <a:t>,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mag2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=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818CF8"/>
                </a:solidFill>
                <a:latin typeface="Consolas"/>
              </a:rPr>
              <a:t>0</a:t>
            </a:r>
            <a:r>
              <a:rPr sz="1200">
                <a:solidFill>
                  <a:srgbClr val="F1F5F9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F1F5F9"/>
                </a:solidFill>
                <a:latin typeface="Consolas"/>
              </a:rPr>
              <a:t>vocab</a:t>
            </a:r>
            <a:r>
              <a:rPr sz="1200">
                <a:solidFill>
                  <a:srgbClr val="F1F5F9"/>
                </a:solidFill>
                <a:latin typeface="Consolas"/>
              </a:rPr>
              <a:t>.</a:t>
            </a:r>
            <a:r>
              <a:rPr sz="1200">
                <a:solidFill>
                  <a:srgbClr val="F1F5F9"/>
                </a:solidFill>
                <a:latin typeface="Consolas"/>
              </a:rPr>
              <a:t>forEach</a:t>
            </a:r>
            <a:r>
              <a:rPr sz="1200">
                <a:solidFill>
                  <a:srgbClr val="F1F5F9"/>
                </a:solidFill>
                <a:latin typeface="Consolas"/>
              </a:rPr>
              <a:t>(</a:t>
            </a:r>
            <a:r>
              <a:rPr sz="1200">
                <a:solidFill>
                  <a:srgbClr val="F1F5F9"/>
                </a:solidFill>
                <a:latin typeface="Consolas"/>
              </a:rPr>
              <a:t>word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=&gt;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F1F5F9"/>
                </a:solidFill>
                <a:latin typeface="Consolas"/>
              </a:rPr>
              <a:t>    </a:t>
            </a:r>
            <a:r>
              <a:rPr sz="1200">
                <a:solidFill>
                  <a:srgbClr val="F1F5F9"/>
                </a:solidFill>
                <a:latin typeface="Consolas"/>
              </a:rPr>
              <a:t>dotProduct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+=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freq1</a:t>
            </a:r>
            <a:r>
              <a:rPr sz="1200">
                <a:solidFill>
                  <a:srgbClr val="F1F5F9"/>
                </a:solidFill>
                <a:latin typeface="Consolas"/>
              </a:rPr>
              <a:t>[</a:t>
            </a:r>
            <a:r>
              <a:rPr sz="1200">
                <a:solidFill>
                  <a:srgbClr val="F1F5F9"/>
                </a:solidFill>
                <a:latin typeface="Consolas"/>
              </a:rPr>
              <a:t>word</a:t>
            </a:r>
            <a:r>
              <a:rPr sz="1200">
                <a:solidFill>
                  <a:srgbClr val="F1F5F9"/>
                </a:solidFill>
                <a:latin typeface="Consolas"/>
              </a:rPr>
              <a:t>]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*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freq2</a:t>
            </a:r>
            <a:r>
              <a:rPr sz="1200">
                <a:solidFill>
                  <a:srgbClr val="F1F5F9"/>
                </a:solidFill>
                <a:latin typeface="Consolas"/>
              </a:rPr>
              <a:t>[</a:t>
            </a:r>
            <a:r>
              <a:rPr sz="1200">
                <a:solidFill>
                  <a:srgbClr val="F1F5F9"/>
                </a:solidFill>
                <a:latin typeface="Consolas"/>
              </a:rPr>
              <a:t>word</a:t>
            </a:r>
            <a:r>
              <a:rPr sz="1200">
                <a:solidFill>
                  <a:srgbClr val="F1F5F9"/>
                </a:solidFill>
                <a:latin typeface="Consolas"/>
              </a:rPr>
              <a:t>];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F1F5F9"/>
                </a:solidFill>
                <a:latin typeface="Consolas"/>
              </a:rPr>
              <a:t>    </a:t>
            </a:r>
            <a:r>
              <a:rPr sz="1200">
                <a:solidFill>
                  <a:srgbClr val="F1F5F9"/>
                </a:solidFill>
                <a:latin typeface="Consolas"/>
              </a:rPr>
              <a:t>mag1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+=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freq1</a:t>
            </a:r>
            <a:r>
              <a:rPr sz="1200">
                <a:solidFill>
                  <a:srgbClr val="F1F5F9"/>
                </a:solidFill>
                <a:latin typeface="Consolas"/>
              </a:rPr>
              <a:t>[</a:t>
            </a:r>
            <a:r>
              <a:rPr sz="1200">
                <a:solidFill>
                  <a:srgbClr val="F1F5F9"/>
                </a:solidFill>
                <a:latin typeface="Consolas"/>
              </a:rPr>
              <a:t>word</a:t>
            </a:r>
            <a:r>
              <a:rPr sz="1200">
                <a:solidFill>
                  <a:srgbClr val="F1F5F9"/>
                </a:solidFill>
                <a:latin typeface="Consolas"/>
              </a:rPr>
              <a:t>]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*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freq1</a:t>
            </a:r>
            <a:r>
              <a:rPr sz="1200">
                <a:solidFill>
                  <a:srgbClr val="F1F5F9"/>
                </a:solidFill>
                <a:latin typeface="Consolas"/>
              </a:rPr>
              <a:t>[</a:t>
            </a:r>
            <a:r>
              <a:rPr sz="1200">
                <a:solidFill>
                  <a:srgbClr val="F1F5F9"/>
                </a:solidFill>
                <a:latin typeface="Consolas"/>
              </a:rPr>
              <a:t>word</a:t>
            </a:r>
            <a:r>
              <a:rPr sz="1200">
                <a:solidFill>
                  <a:srgbClr val="F1F5F9"/>
                </a:solidFill>
                <a:latin typeface="Consolas"/>
              </a:rPr>
              <a:t>];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F1F5F9"/>
                </a:solidFill>
                <a:latin typeface="Consolas"/>
              </a:rPr>
              <a:t>    </a:t>
            </a:r>
            <a:r>
              <a:rPr sz="1200">
                <a:solidFill>
                  <a:srgbClr val="F1F5F9"/>
                </a:solidFill>
                <a:latin typeface="Consolas"/>
              </a:rPr>
              <a:t>mag2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+=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freq2</a:t>
            </a:r>
            <a:r>
              <a:rPr sz="1200">
                <a:solidFill>
                  <a:srgbClr val="F1F5F9"/>
                </a:solidFill>
                <a:latin typeface="Consolas"/>
              </a:rPr>
              <a:t>[</a:t>
            </a:r>
            <a:r>
              <a:rPr sz="1200">
                <a:solidFill>
                  <a:srgbClr val="F1F5F9"/>
                </a:solidFill>
                <a:latin typeface="Consolas"/>
              </a:rPr>
              <a:t>word</a:t>
            </a:r>
            <a:r>
              <a:rPr sz="1200">
                <a:solidFill>
                  <a:srgbClr val="F1F5F9"/>
                </a:solidFill>
                <a:latin typeface="Consolas"/>
              </a:rPr>
              <a:t>]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*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freq2</a:t>
            </a:r>
            <a:r>
              <a:rPr sz="1200">
                <a:solidFill>
                  <a:srgbClr val="F1F5F9"/>
                </a:solidFill>
                <a:latin typeface="Consolas"/>
              </a:rPr>
              <a:t>[</a:t>
            </a:r>
            <a:r>
              <a:rPr sz="1200">
                <a:solidFill>
                  <a:srgbClr val="F1F5F9"/>
                </a:solidFill>
                <a:latin typeface="Consolas"/>
              </a:rPr>
              <a:t>word</a:t>
            </a:r>
            <a:r>
              <a:rPr sz="1200">
                <a:solidFill>
                  <a:srgbClr val="F1F5F9"/>
                </a:solidFill>
                <a:latin typeface="Consolas"/>
              </a:rPr>
              <a:t>];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F1F5F9"/>
                </a:solidFill>
                <a:latin typeface="Consolas"/>
              </a:rPr>
              <a:t>});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F472B6"/>
                </a:solidFill>
                <a:latin typeface="Consolas"/>
              </a:rPr>
              <a:t>if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(</a:t>
            </a:r>
            <a:r>
              <a:rPr sz="1200">
                <a:solidFill>
                  <a:srgbClr val="F1F5F9"/>
                </a:solidFill>
                <a:latin typeface="Consolas"/>
              </a:rPr>
              <a:t>mag1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===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818CF8"/>
                </a:solidFill>
                <a:latin typeface="Consolas"/>
              </a:rPr>
              <a:t>0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||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mag2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===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818CF8"/>
                </a:solidFill>
                <a:latin typeface="Consolas"/>
              </a:rPr>
              <a:t>0</a:t>
            </a:r>
            <a:r>
              <a:rPr sz="1200">
                <a:solidFill>
                  <a:srgbClr val="F1F5F9"/>
                </a:solidFill>
                <a:latin typeface="Consolas"/>
              </a:rPr>
              <a:t>)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 b="1">
                <a:solidFill>
                  <a:srgbClr val="F472B6"/>
                </a:solidFill>
                <a:latin typeface="Consolas"/>
              </a:rPr>
              <a:t>return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818CF8"/>
                </a:solidFill>
                <a:latin typeface="Consolas"/>
              </a:rPr>
              <a:t>0</a:t>
            </a:r>
            <a:r>
              <a:rPr sz="1200">
                <a:solidFill>
                  <a:srgbClr val="F1F5F9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F472B6"/>
                </a:solidFill>
                <a:latin typeface="Consolas"/>
              </a:rPr>
              <a:t>return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(</a:t>
            </a:r>
            <a:r>
              <a:rPr sz="1200">
                <a:solidFill>
                  <a:srgbClr val="F1F5F9"/>
                </a:solidFill>
                <a:latin typeface="Consolas"/>
              </a:rPr>
              <a:t>dotProduct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/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(</a:t>
            </a:r>
            <a:r>
              <a:rPr sz="1200">
                <a:solidFill>
                  <a:srgbClr val="F1F5F9"/>
                </a:solidFill>
                <a:latin typeface="Consolas"/>
              </a:rPr>
              <a:t>Math</a:t>
            </a:r>
            <a:r>
              <a:rPr sz="1200">
                <a:solidFill>
                  <a:srgbClr val="F1F5F9"/>
                </a:solidFill>
                <a:latin typeface="Consolas"/>
              </a:rPr>
              <a:t>.</a:t>
            </a:r>
            <a:r>
              <a:rPr sz="1200">
                <a:solidFill>
                  <a:srgbClr val="F1F5F9"/>
                </a:solidFill>
                <a:latin typeface="Consolas"/>
              </a:rPr>
              <a:t>sqrt</a:t>
            </a:r>
            <a:r>
              <a:rPr sz="1200">
                <a:solidFill>
                  <a:srgbClr val="F1F5F9"/>
                </a:solidFill>
                <a:latin typeface="Consolas"/>
              </a:rPr>
              <a:t>(</a:t>
            </a:r>
            <a:r>
              <a:rPr sz="1200">
                <a:solidFill>
                  <a:srgbClr val="F1F5F9"/>
                </a:solidFill>
                <a:latin typeface="Consolas"/>
              </a:rPr>
              <a:t>mag1</a:t>
            </a:r>
            <a:r>
              <a:rPr sz="1200">
                <a:solidFill>
                  <a:srgbClr val="F1F5F9"/>
                </a:solidFill>
                <a:latin typeface="Consolas"/>
              </a:rPr>
              <a:t>)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*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Math</a:t>
            </a:r>
            <a:r>
              <a:rPr sz="1200">
                <a:solidFill>
                  <a:srgbClr val="F1F5F9"/>
                </a:solidFill>
                <a:latin typeface="Consolas"/>
              </a:rPr>
              <a:t>.</a:t>
            </a:r>
            <a:r>
              <a:rPr sz="1200">
                <a:solidFill>
                  <a:srgbClr val="F1F5F9"/>
                </a:solidFill>
                <a:latin typeface="Consolas"/>
              </a:rPr>
              <a:t>sqrt</a:t>
            </a:r>
            <a:r>
              <a:rPr sz="1200">
                <a:solidFill>
                  <a:srgbClr val="F1F5F9"/>
                </a:solidFill>
                <a:latin typeface="Consolas"/>
              </a:rPr>
              <a:t>(</a:t>
            </a:r>
            <a:r>
              <a:rPr sz="1200">
                <a:solidFill>
                  <a:srgbClr val="F1F5F9"/>
                </a:solidFill>
                <a:latin typeface="Consolas"/>
              </a:rPr>
              <a:t>mag2</a:t>
            </a:r>
            <a:r>
              <a:rPr sz="1200">
                <a:solidFill>
                  <a:srgbClr val="F1F5F9"/>
                </a:solidFill>
                <a:latin typeface="Consolas"/>
              </a:rPr>
              <a:t>)))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*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818CF8"/>
                </a:solidFill>
                <a:latin typeface="Consolas"/>
              </a:rPr>
              <a:t>100</a:t>
            </a:r>
            <a:r>
              <a:rPr sz="1200">
                <a:solidFill>
                  <a:srgbClr val="F1F5F9"/>
                </a:solidFill>
                <a:latin typeface="Consolas"/>
              </a:rPr>
              <a:t>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23. Similarity Detection (Jaccard Index)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0292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Checks overall Vocabulary Set overlap.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Converts cleaned word arrays into unique Sets.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Intersection: Shared unique words.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Union: Total unique words combined.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Dividing Intersection by Union gives Jaccard percentage.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Highly effective at catching copied vocabulary sets.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0" y="1645920"/>
            <a:ext cx="5559552" cy="3840480"/>
          </a:xfrm>
          <a:prstGeom prst="rect">
            <a:avLst/>
          </a:prstGeom>
          <a:solidFill>
            <a:srgbClr val="0A0F1D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 rIns="137160" bIns="137160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472B6"/>
                </a:solidFill>
                <a:latin typeface="Consolas"/>
              </a:rPr>
              <a:t>const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words1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=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 b="1">
                <a:solidFill>
                  <a:srgbClr val="F472B6"/>
                </a:solidFill>
                <a:latin typeface="Consolas"/>
              </a:rPr>
              <a:t>new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Set</a:t>
            </a:r>
            <a:r>
              <a:rPr sz="1100">
                <a:solidFill>
                  <a:srgbClr val="F1F5F9"/>
                </a:solidFill>
                <a:latin typeface="Consolas"/>
              </a:rPr>
              <a:t>(</a:t>
            </a:r>
            <a:r>
              <a:rPr sz="1100">
                <a:solidFill>
                  <a:srgbClr val="F1F5F9"/>
                </a:solidFill>
                <a:latin typeface="Consolas"/>
              </a:rPr>
              <a:t>t1</a:t>
            </a:r>
            <a:r>
              <a:rPr sz="1100">
                <a:solidFill>
                  <a:srgbClr val="F1F5F9"/>
                </a:solidFill>
                <a:latin typeface="Consolas"/>
              </a:rPr>
              <a:t>.</a:t>
            </a:r>
            <a:r>
              <a:rPr sz="1100">
                <a:solidFill>
                  <a:srgbClr val="F1F5F9"/>
                </a:solidFill>
                <a:latin typeface="Consolas"/>
              </a:rPr>
              <a:t>split</a:t>
            </a:r>
            <a:r>
              <a:rPr sz="1100">
                <a:solidFill>
                  <a:srgbClr val="F1F5F9"/>
                </a:solidFill>
                <a:latin typeface="Consolas"/>
              </a:rPr>
              <a:t>(/\</a:t>
            </a:r>
            <a:r>
              <a:rPr sz="1100">
                <a:solidFill>
                  <a:srgbClr val="F1F5F9"/>
                </a:solidFill>
                <a:latin typeface="Consolas"/>
              </a:rPr>
              <a:t>s</a:t>
            </a:r>
            <a:r>
              <a:rPr sz="1100">
                <a:solidFill>
                  <a:srgbClr val="F1F5F9"/>
                </a:solidFill>
                <a:latin typeface="Consolas"/>
              </a:rPr>
              <a:t>+/));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F472B6"/>
                </a:solidFill>
                <a:latin typeface="Consolas"/>
              </a:rPr>
              <a:t>const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words2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=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 b="1">
                <a:solidFill>
                  <a:srgbClr val="F472B6"/>
                </a:solidFill>
                <a:latin typeface="Consolas"/>
              </a:rPr>
              <a:t>new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Set</a:t>
            </a:r>
            <a:r>
              <a:rPr sz="1100">
                <a:solidFill>
                  <a:srgbClr val="F1F5F9"/>
                </a:solidFill>
                <a:latin typeface="Consolas"/>
              </a:rPr>
              <a:t>(</a:t>
            </a:r>
            <a:r>
              <a:rPr sz="1100">
                <a:solidFill>
                  <a:srgbClr val="F1F5F9"/>
                </a:solidFill>
                <a:latin typeface="Consolas"/>
              </a:rPr>
              <a:t>t2</a:t>
            </a:r>
            <a:r>
              <a:rPr sz="1100">
                <a:solidFill>
                  <a:srgbClr val="F1F5F9"/>
                </a:solidFill>
                <a:latin typeface="Consolas"/>
              </a:rPr>
              <a:t>.</a:t>
            </a:r>
            <a:r>
              <a:rPr sz="1100">
                <a:solidFill>
                  <a:srgbClr val="F1F5F9"/>
                </a:solidFill>
                <a:latin typeface="Consolas"/>
              </a:rPr>
              <a:t>split</a:t>
            </a:r>
            <a:r>
              <a:rPr sz="1100">
                <a:solidFill>
                  <a:srgbClr val="F1F5F9"/>
                </a:solidFill>
                <a:latin typeface="Consolas"/>
              </a:rPr>
              <a:t>(/\</a:t>
            </a:r>
            <a:r>
              <a:rPr sz="1100">
                <a:solidFill>
                  <a:srgbClr val="F1F5F9"/>
                </a:solidFill>
                <a:latin typeface="Consolas"/>
              </a:rPr>
              <a:t>s</a:t>
            </a:r>
            <a:r>
              <a:rPr sz="1100">
                <a:solidFill>
                  <a:srgbClr val="F1F5F9"/>
                </a:solidFill>
                <a:latin typeface="Consolas"/>
              </a:rPr>
              <a:t>+/));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F472B6"/>
                </a:solidFill>
                <a:latin typeface="Consolas"/>
              </a:rPr>
              <a:t>const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intersection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=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 b="1">
                <a:solidFill>
                  <a:srgbClr val="F472B6"/>
                </a:solidFill>
                <a:latin typeface="Consolas"/>
              </a:rPr>
              <a:t>new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Set</a:t>
            </a:r>
            <a:r>
              <a:rPr sz="1100">
                <a:solidFill>
                  <a:srgbClr val="F1F5F9"/>
                </a:solidFill>
                <a:latin typeface="Consolas"/>
              </a:rPr>
              <a:t>(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F1F5F9"/>
                </a:solidFill>
                <a:latin typeface="Consolas"/>
              </a:rPr>
              <a:t>    </a:t>
            </a:r>
            <a:r>
              <a:rPr sz="1100">
                <a:solidFill>
                  <a:srgbClr val="F1F5F9"/>
                </a:solidFill>
                <a:latin typeface="Consolas"/>
              </a:rPr>
              <a:t>[...</a:t>
            </a:r>
            <a:r>
              <a:rPr sz="1100">
                <a:solidFill>
                  <a:srgbClr val="F1F5F9"/>
                </a:solidFill>
                <a:latin typeface="Consolas"/>
              </a:rPr>
              <a:t>words1</a:t>
            </a:r>
            <a:r>
              <a:rPr sz="1100">
                <a:solidFill>
                  <a:srgbClr val="F1F5F9"/>
                </a:solidFill>
                <a:latin typeface="Consolas"/>
              </a:rPr>
              <a:t>].</a:t>
            </a:r>
            <a:r>
              <a:rPr sz="1100">
                <a:solidFill>
                  <a:srgbClr val="F1F5F9"/>
                </a:solidFill>
                <a:latin typeface="Consolas"/>
              </a:rPr>
              <a:t>filter</a:t>
            </a:r>
            <a:r>
              <a:rPr sz="1100">
                <a:solidFill>
                  <a:srgbClr val="F1F5F9"/>
                </a:solidFill>
                <a:latin typeface="Consolas"/>
              </a:rPr>
              <a:t>(</a:t>
            </a:r>
            <a:r>
              <a:rPr sz="1100">
                <a:solidFill>
                  <a:srgbClr val="F1F5F9"/>
                </a:solidFill>
                <a:latin typeface="Consolas"/>
              </a:rPr>
              <a:t>x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=&gt;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words2</a:t>
            </a:r>
            <a:r>
              <a:rPr sz="1100">
                <a:solidFill>
                  <a:srgbClr val="F1F5F9"/>
                </a:solidFill>
                <a:latin typeface="Consolas"/>
              </a:rPr>
              <a:t>.</a:t>
            </a:r>
            <a:r>
              <a:rPr sz="1100">
                <a:solidFill>
                  <a:srgbClr val="F1F5F9"/>
                </a:solidFill>
                <a:latin typeface="Consolas"/>
              </a:rPr>
              <a:t>has</a:t>
            </a:r>
            <a:r>
              <a:rPr sz="1100">
                <a:solidFill>
                  <a:srgbClr val="F1F5F9"/>
                </a:solidFill>
                <a:latin typeface="Consolas"/>
              </a:rPr>
              <a:t>(</a:t>
            </a:r>
            <a:r>
              <a:rPr sz="1100">
                <a:solidFill>
                  <a:srgbClr val="F1F5F9"/>
                </a:solidFill>
                <a:latin typeface="Consolas"/>
              </a:rPr>
              <a:t>x</a:t>
            </a:r>
            <a:r>
              <a:rPr sz="1100">
                <a:solidFill>
                  <a:srgbClr val="F1F5F9"/>
                </a:solidFill>
                <a:latin typeface="Consolas"/>
              </a:rPr>
              <a:t>))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F1F5F9"/>
                </a:solidFill>
                <a:latin typeface="Consolas"/>
              </a:rPr>
              <a:t>);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F472B6"/>
                </a:solidFill>
                <a:latin typeface="Consolas"/>
              </a:rPr>
              <a:t>const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union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=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 b="1">
                <a:solidFill>
                  <a:srgbClr val="F472B6"/>
                </a:solidFill>
                <a:latin typeface="Consolas"/>
              </a:rPr>
              <a:t>new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Set</a:t>
            </a:r>
            <a:r>
              <a:rPr sz="1100">
                <a:solidFill>
                  <a:srgbClr val="F1F5F9"/>
                </a:solidFill>
                <a:latin typeface="Consolas"/>
              </a:rPr>
              <a:t>([...</a:t>
            </a:r>
            <a:r>
              <a:rPr sz="1100">
                <a:solidFill>
                  <a:srgbClr val="F1F5F9"/>
                </a:solidFill>
                <a:latin typeface="Consolas"/>
              </a:rPr>
              <a:t>words1</a:t>
            </a:r>
            <a:r>
              <a:rPr sz="1100">
                <a:solidFill>
                  <a:srgbClr val="F1F5F9"/>
                </a:solidFill>
                <a:latin typeface="Consolas"/>
              </a:rPr>
              <a:t>,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...</a:t>
            </a:r>
            <a:r>
              <a:rPr sz="1100">
                <a:solidFill>
                  <a:srgbClr val="F1F5F9"/>
                </a:solidFill>
                <a:latin typeface="Consolas"/>
              </a:rPr>
              <a:t>words2</a:t>
            </a:r>
            <a:r>
              <a:rPr sz="1100">
                <a:solidFill>
                  <a:srgbClr val="F1F5F9"/>
                </a:solidFill>
                <a:latin typeface="Consolas"/>
              </a:rPr>
              <a:t>]);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F472B6"/>
                </a:solidFill>
                <a:latin typeface="Consolas"/>
              </a:rPr>
              <a:t>if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(</a:t>
            </a:r>
            <a:r>
              <a:rPr sz="1100">
                <a:solidFill>
                  <a:srgbClr val="F1F5F9"/>
                </a:solidFill>
                <a:latin typeface="Consolas"/>
              </a:rPr>
              <a:t>union</a:t>
            </a:r>
            <a:r>
              <a:rPr sz="1100">
                <a:solidFill>
                  <a:srgbClr val="F1F5F9"/>
                </a:solidFill>
                <a:latin typeface="Consolas"/>
              </a:rPr>
              <a:t>.</a:t>
            </a:r>
            <a:r>
              <a:rPr sz="1100">
                <a:solidFill>
                  <a:srgbClr val="F1F5F9"/>
                </a:solidFill>
                <a:latin typeface="Consolas"/>
              </a:rPr>
              <a:t>size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===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818CF8"/>
                </a:solidFill>
                <a:latin typeface="Consolas"/>
              </a:rPr>
              <a:t>0</a:t>
            </a:r>
            <a:r>
              <a:rPr sz="1100">
                <a:solidFill>
                  <a:srgbClr val="F1F5F9"/>
                </a:solidFill>
                <a:latin typeface="Consolas"/>
              </a:rPr>
              <a:t>)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 b="1">
                <a:solidFill>
                  <a:srgbClr val="F472B6"/>
                </a:solidFill>
                <a:latin typeface="Consolas"/>
              </a:rPr>
              <a:t>return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818CF8"/>
                </a:solidFill>
                <a:latin typeface="Consolas"/>
              </a:rPr>
              <a:t>0</a:t>
            </a:r>
            <a:r>
              <a:rPr sz="1100">
                <a:solidFill>
                  <a:srgbClr val="F1F5F9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F472B6"/>
                </a:solidFill>
                <a:latin typeface="Consolas"/>
              </a:rPr>
              <a:t>return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(</a:t>
            </a:r>
            <a:r>
              <a:rPr sz="1100">
                <a:solidFill>
                  <a:srgbClr val="F1F5F9"/>
                </a:solidFill>
                <a:latin typeface="Consolas"/>
              </a:rPr>
              <a:t>intersection</a:t>
            </a:r>
            <a:r>
              <a:rPr sz="1100">
                <a:solidFill>
                  <a:srgbClr val="F1F5F9"/>
                </a:solidFill>
                <a:latin typeface="Consolas"/>
              </a:rPr>
              <a:t>.</a:t>
            </a:r>
            <a:r>
              <a:rPr sz="1100">
                <a:solidFill>
                  <a:srgbClr val="F1F5F9"/>
                </a:solidFill>
                <a:latin typeface="Consolas"/>
              </a:rPr>
              <a:t>size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/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union</a:t>
            </a:r>
            <a:r>
              <a:rPr sz="1100">
                <a:solidFill>
                  <a:srgbClr val="F1F5F9"/>
                </a:solidFill>
                <a:latin typeface="Consolas"/>
              </a:rPr>
              <a:t>.</a:t>
            </a:r>
            <a:r>
              <a:rPr sz="1100">
                <a:solidFill>
                  <a:srgbClr val="F1F5F9"/>
                </a:solidFill>
                <a:latin typeface="Consolas"/>
              </a:rPr>
              <a:t>size</a:t>
            </a:r>
            <a:r>
              <a:rPr sz="1100">
                <a:solidFill>
                  <a:srgbClr val="F1F5F9"/>
                </a:solidFill>
                <a:latin typeface="Consolas"/>
              </a:rPr>
              <a:t>)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*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818CF8"/>
                </a:solidFill>
                <a:latin typeface="Consolas"/>
              </a:rPr>
              <a:t>100</a:t>
            </a:r>
            <a:r>
              <a:rPr sz="1100">
                <a:solidFill>
                  <a:srgbClr val="F1F5F9"/>
                </a:solidFill>
                <a:latin typeface="Consolas"/>
              </a:rPr>
              <a:t>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24. Document Comparison &amp; Highlighting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Combination Index: Computes the average of Cosine Similarity and Jaccard Index score for balanced output.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Word-Level Match Highlighter: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  - Converts strings to word lists.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  - Checks if a word in Document A exists in the vocabulary set of Document B.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  - Wraps matches in orange highlight spans.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Citation Filter: Ignores quoted phrases dynamically.</a:t>
            </a:r>
          </a:p>
        </p:txBody>
      </p:sp>
      <p:pic>
        <p:nvPicPr>
          <p:cNvPr id="4" name="Picture 3" descr="diff_highligh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45920"/>
            <a:ext cx="4919472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25. Similarity Results &amp;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Classification ranges based on combined score: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  - 90%+ : Direct Copy / Duplicate (Red)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  - 70% - 89% : Highly Similar (Orange)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  - 40% - 69% : Moderately Similar (Yellow)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  - 15% - 39% : Slightly Similar (Blue)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  - &lt;15% : Completely Unique (Green)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Renders matching warning descriptions automatically.</a:t>
            </a:r>
          </a:p>
        </p:txBody>
      </p:sp>
      <p:pic>
        <p:nvPicPr>
          <p:cNvPr id="4" name="Picture 3" descr="ui_sand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45920"/>
            <a:ext cx="4919472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26. Data Visualization (Circle Gauge)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0292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Interactive SVG Circular progress ring.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Circumference = 326.7px (radius = 52px).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JavaScript calculates matching stroke-dashoffset.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Smooth CSS transition filling animation.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Accent color changes dynamically matching status levels.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0" y="1645920"/>
            <a:ext cx="5559552" cy="3840480"/>
          </a:xfrm>
          <a:prstGeom prst="rect">
            <a:avLst/>
          </a:prstGeom>
          <a:solidFill>
            <a:srgbClr val="0A0F1D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 rIns="137160" bIns="137160"/>
          <a:lstStyle/>
          <a:p>
            <a:pPr algn="ctr">
              <a:spcAft>
                <a:spcPts val="200"/>
              </a:spcAft>
            </a:pPr>
            <a:r>
              <a:rPr sz="1200">
                <a:solidFill>
                  <a:srgbClr val="64748B"/>
                </a:solidFill>
                <a:latin typeface="Consolas"/>
              </a:rPr>
              <a:t>// Radial Gauge update logic in JS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F472B6"/>
                </a:solidFill>
                <a:latin typeface="Consolas"/>
              </a:rPr>
              <a:t>const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38BDF8"/>
                </a:solidFill>
                <a:latin typeface="Consolas"/>
              </a:rPr>
              <a:t>circle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=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38BDF8"/>
                </a:solidFill>
                <a:latin typeface="Consolas"/>
              </a:rPr>
              <a:t>document</a:t>
            </a:r>
            <a:r>
              <a:rPr sz="1200">
                <a:solidFill>
                  <a:srgbClr val="F1F5F9"/>
                </a:solidFill>
                <a:latin typeface="Consolas"/>
              </a:rPr>
              <a:t>.</a:t>
            </a:r>
            <a:r>
              <a:rPr sz="1200">
                <a:solidFill>
                  <a:srgbClr val="F1F5F9"/>
                </a:solidFill>
                <a:latin typeface="Consolas"/>
              </a:rPr>
              <a:t>getElementById</a:t>
            </a:r>
            <a:r>
              <a:rPr sz="1200">
                <a:solidFill>
                  <a:srgbClr val="F1F5F9"/>
                </a:solidFill>
                <a:latin typeface="Consolas"/>
              </a:rPr>
              <a:t>('</a:t>
            </a:r>
            <a:r>
              <a:rPr sz="1200">
                <a:solidFill>
                  <a:srgbClr val="F1F5F9"/>
                </a:solidFill>
                <a:latin typeface="Consolas"/>
              </a:rPr>
              <a:t>radial</a:t>
            </a:r>
            <a:r>
              <a:rPr sz="1200">
                <a:solidFill>
                  <a:srgbClr val="F1F5F9"/>
                </a:solidFill>
                <a:latin typeface="Consolas"/>
              </a:rPr>
              <a:t>-</a:t>
            </a:r>
            <a:r>
              <a:rPr sz="1200">
                <a:solidFill>
                  <a:srgbClr val="F1F5F9"/>
                </a:solidFill>
                <a:latin typeface="Consolas"/>
              </a:rPr>
              <a:t>bar</a:t>
            </a:r>
            <a:r>
              <a:rPr sz="1200">
                <a:solidFill>
                  <a:srgbClr val="FDBA74"/>
                </a:solidFill>
                <a:latin typeface="Consolas"/>
              </a:rPr>
              <a:t>');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F472B6"/>
                </a:solidFill>
                <a:latin typeface="Consolas"/>
              </a:rPr>
              <a:t>const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circumference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=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818CF8"/>
                </a:solidFill>
                <a:latin typeface="Consolas"/>
              </a:rPr>
              <a:t>326</a:t>
            </a:r>
            <a:r>
              <a:rPr sz="1200">
                <a:solidFill>
                  <a:srgbClr val="F1F5F9"/>
                </a:solidFill>
                <a:latin typeface="Consolas"/>
              </a:rPr>
              <a:t>.</a:t>
            </a:r>
            <a:r>
              <a:rPr sz="1200">
                <a:solidFill>
                  <a:srgbClr val="818CF8"/>
                </a:solidFill>
                <a:latin typeface="Consolas"/>
              </a:rPr>
              <a:t>7</a:t>
            </a:r>
            <a:r>
              <a:rPr sz="1200">
                <a:solidFill>
                  <a:srgbClr val="F1F5F9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F472B6"/>
                </a:solidFill>
                <a:latin typeface="Consolas"/>
              </a:rPr>
              <a:t>const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offset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=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circumference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-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F1F5F9"/>
                </a:solidFill>
                <a:latin typeface="Consolas"/>
              </a:rPr>
              <a:t>      </a:t>
            </a:r>
            <a:r>
              <a:rPr sz="1200">
                <a:solidFill>
                  <a:srgbClr val="F1F5F9"/>
                </a:solidFill>
                <a:latin typeface="Consolas"/>
              </a:rPr>
              <a:t>(</a:t>
            </a:r>
            <a:r>
              <a:rPr sz="1200">
                <a:solidFill>
                  <a:srgbClr val="F1F5F9"/>
                </a:solidFill>
                <a:latin typeface="Consolas"/>
              </a:rPr>
              <a:t>circumference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*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scoreInt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/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818CF8"/>
                </a:solidFill>
                <a:latin typeface="Consolas"/>
              </a:rPr>
              <a:t>100</a:t>
            </a:r>
            <a:r>
              <a:rPr sz="1200">
                <a:solidFill>
                  <a:srgbClr val="F1F5F9"/>
                </a:solidFill>
                <a:latin typeface="Consolas"/>
              </a:rPr>
              <a:t>);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38BDF8"/>
                </a:solidFill>
                <a:latin typeface="Consolas"/>
              </a:rPr>
              <a:t>circle</a:t>
            </a:r>
            <a:r>
              <a:rPr sz="1200">
                <a:solidFill>
                  <a:srgbClr val="F1F5F9"/>
                </a:solidFill>
                <a:latin typeface="Consolas"/>
              </a:rPr>
              <a:t>.</a:t>
            </a:r>
            <a:r>
              <a:rPr sz="1200">
                <a:solidFill>
                  <a:srgbClr val="F1F5F9"/>
                </a:solidFill>
                <a:latin typeface="Consolas"/>
              </a:rPr>
              <a:t>style</a:t>
            </a:r>
            <a:r>
              <a:rPr sz="1200">
                <a:solidFill>
                  <a:srgbClr val="F1F5F9"/>
                </a:solidFill>
                <a:latin typeface="Consolas"/>
              </a:rPr>
              <a:t>.</a:t>
            </a:r>
            <a:r>
              <a:rPr sz="1200">
                <a:solidFill>
                  <a:srgbClr val="F1F5F9"/>
                </a:solidFill>
                <a:latin typeface="Consolas"/>
              </a:rPr>
              <a:t>strokeDashoffset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=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offset</a:t>
            </a:r>
            <a:r>
              <a:rPr sz="1200">
                <a:solidFill>
                  <a:srgbClr val="F1F5F9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38BDF8"/>
                </a:solidFill>
                <a:latin typeface="Consolas"/>
              </a:rPr>
              <a:t>circle</a:t>
            </a:r>
            <a:r>
              <a:rPr sz="1200">
                <a:solidFill>
                  <a:srgbClr val="F1F5F9"/>
                </a:solidFill>
                <a:latin typeface="Consolas"/>
              </a:rPr>
              <a:t>.</a:t>
            </a:r>
            <a:r>
              <a:rPr sz="1200">
                <a:solidFill>
                  <a:srgbClr val="F1F5F9"/>
                </a:solidFill>
                <a:latin typeface="Consolas"/>
              </a:rPr>
              <a:t>style</a:t>
            </a:r>
            <a:r>
              <a:rPr sz="1200">
                <a:solidFill>
                  <a:srgbClr val="F1F5F9"/>
                </a:solidFill>
                <a:latin typeface="Consolas"/>
              </a:rPr>
              <a:t>.</a:t>
            </a:r>
            <a:r>
              <a:rPr sz="1200">
                <a:solidFill>
                  <a:srgbClr val="F1F5F9"/>
                </a:solidFill>
                <a:latin typeface="Consolas"/>
              </a:rPr>
              <a:t>stroke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=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color</a:t>
            </a:r>
            <a:r>
              <a:rPr sz="1200">
                <a:solidFill>
                  <a:srgbClr val="F1F5F9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38BDF8"/>
                </a:solidFill>
                <a:latin typeface="Consolas"/>
              </a:rPr>
              <a:t>circle</a:t>
            </a:r>
            <a:r>
              <a:rPr sz="1200">
                <a:solidFill>
                  <a:srgbClr val="F1F5F9"/>
                </a:solidFill>
                <a:latin typeface="Consolas"/>
              </a:rPr>
              <a:t>.</a:t>
            </a:r>
            <a:r>
              <a:rPr sz="1200">
                <a:solidFill>
                  <a:srgbClr val="F1F5F9"/>
                </a:solidFill>
                <a:latin typeface="Consolas"/>
              </a:rPr>
              <a:t>style</a:t>
            </a:r>
            <a:r>
              <a:rPr sz="1200">
                <a:solidFill>
                  <a:srgbClr val="F1F5F9"/>
                </a:solidFill>
                <a:latin typeface="Consolas"/>
              </a:rPr>
              <a:t>.</a:t>
            </a:r>
            <a:r>
              <a:rPr sz="1200">
                <a:solidFill>
                  <a:srgbClr val="F1F5F9"/>
                </a:solidFill>
                <a:latin typeface="Consolas"/>
              </a:rPr>
              <a:t>filter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=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F1F5F9"/>
                </a:solidFill>
                <a:latin typeface="Consolas"/>
              </a:rPr>
              <a:t>      </a:t>
            </a:r>
            <a:r>
              <a:rPr sz="1200">
                <a:solidFill>
                  <a:srgbClr val="F1F5F9"/>
                </a:solidFill>
                <a:latin typeface="Consolas"/>
              </a:rPr>
              <a:t>`</a:t>
            </a:r>
            <a:r>
              <a:rPr sz="1200">
                <a:solidFill>
                  <a:srgbClr val="F1F5F9"/>
                </a:solidFill>
                <a:latin typeface="Consolas"/>
              </a:rPr>
              <a:t>drop</a:t>
            </a:r>
            <a:r>
              <a:rPr sz="1200">
                <a:solidFill>
                  <a:srgbClr val="F1F5F9"/>
                </a:solidFill>
                <a:latin typeface="Consolas"/>
              </a:rPr>
              <a:t>-</a:t>
            </a:r>
            <a:r>
              <a:rPr sz="1200">
                <a:solidFill>
                  <a:srgbClr val="F1F5F9"/>
                </a:solidFill>
                <a:latin typeface="Consolas"/>
              </a:rPr>
              <a:t>shadow</a:t>
            </a:r>
            <a:r>
              <a:rPr sz="1200">
                <a:solidFill>
                  <a:srgbClr val="F1F5F9"/>
                </a:solidFill>
                <a:latin typeface="Consolas"/>
              </a:rPr>
              <a:t>(</a:t>
            </a:r>
            <a:r>
              <a:rPr sz="1200">
                <a:solidFill>
                  <a:srgbClr val="818CF8"/>
                </a:solidFill>
                <a:latin typeface="Consolas"/>
              </a:rPr>
              <a:t>0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818CF8"/>
                </a:solidFill>
                <a:latin typeface="Consolas"/>
              </a:rPr>
              <a:t>0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8px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${</a:t>
            </a:r>
            <a:r>
              <a:rPr sz="1200">
                <a:solidFill>
                  <a:srgbClr val="F1F5F9"/>
                </a:solidFill>
                <a:latin typeface="Consolas"/>
              </a:rPr>
              <a:t>color</a:t>
            </a:r>
            <a:r>
              <a:rPr sz="1200">
                <a:solidFill>
                  <a:srgbClr val="F1F5F9"/>
                </a:solidFill>
                <a:latin typeface="Consolas"/>
              </a:rPr>
              <a:t>}</a:t>
            </a:r>
            <a:r>
              <a:rPr sz="1200">
                <a:solidFill>
                  <a:srgbClr val="818CF8"/>
                </a:solidFill>
                <a:latin typeface="Consolas"/>
              </a:rPr>
              <a:t>80</a:t>
            </a:r>
            <a:r>
              <a:rPr sz="1200">
                <a:solidFill>
                  <a:srgbClr val="F1F5F9"/>
                </a:solidFill>
                <a:latin typeface="Consolas"/>
              </a:rPr>
              <a:t>)`;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27. User Interface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Modern Glassmorphic style card layout.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Background: Deep midnight slate-blue gradients.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UI Accents: Neon glowing borders for result levels.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Google Fonts integration (Plus Jakarta Sans).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Copy-to-clipboard and reset controls.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Fully responsive layouts scaling on mobile devices.</a:t>
            </a:r>
          </a:p>
        </p:txBody>
      </p:sp>
      <p:pic>
        <p:nvPicPr>
          <p:cNvPr id="4" name="Picture 3" descr="ui_sand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45920"/>
            <a:ext cx="4919472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28. Main Web Controller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0292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Client-side controller routing in JS.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Handles extraction, OCR, comparisons.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Single scanner vs Dual match flow check.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Shows loader overlay during calculations.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Catches errors and updates error container.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0" y="1645920"/>
            <a:ext cx="5559552" cy="3840480"/>
          </a:xfrm>
          <a:prstGeom prst="rect">
            <a:avLst/>
          </a:prstGeom>
          <a:solidFill>
            <a:srgbClr val="0A0F1D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 rIns="137160" bIns="137160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472B6"/>
                </a:solidFill>
                <a:latin typeface="Consolas"/>
              </a:rPr>
              <a:t>async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 b="1">
                <a:solidFill>
                  <a:srgbClr val="F472B6"/>
                </a:solidFill>
                <a:latin typeface="Consolas"/>
              </a:rPr>
              <a:t>function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startScanner</a:t>
            </a:r>
            <a:r>
              <a:rPr sz="1100">
                <a:solidFill>
                  <a:srgbClr val="F1F5F9"/>
                </a:solidFill>
                <a:latin typeface="Consolas"/>
              </a:rPr>
              <a:t>()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F1F5F9"/>
                </a:solidFill>
                <a:latin typeface="Consolas"/>
              </a:rPr>
              <a:t>  </a:t>
            </a:r>
            <a:r>
              <a:rPr sz="1100" b="1">
                <a:solidFill>
                  <a:srgbClr val="F472B6"/>
                </a:solidFill>
                <a:latin typeface="Consolas"/>
              </a:rPr>
              <a:t>try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F1F5F9"/>
                </a:solidFill>
                <a:latin typeface="Consolas"/>
              </a:rPr>
              <a:t>    </a:t>
            </a:r>
            <a:r>
              <a:rPr sz="1100" b="1">
                <a:solidFill>
                  <a:srgbClr val="F472B6"/>
                </a:solidFill>
                <a:latin typeface="Consolas"/>
              </a:rPr>
              <a:t>const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t1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=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 b="1">
                <a:solidFill>
                  <a:srgbClr val="F472B6"/>
                </a:solidFill>
                <a:latin typeface="Consolas"/>
              </a:rPr>
              <a:t>await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extractText</a:t>
            </a:r>
            <a:r>
              <a:rPr sz="1100">
                <a:solidFill>
                  <a:srgbClr val="F1F5F9"/>
                </a:solidFill>
                <a:latin typeface="Consolas"/>
              </a:rPr>
              <a:t>('</a:t>
            </a:r>
            <a:r>
              <a:rPr sz="1100">
                <a:solidFill>
                  <a:srgbClr val="F1F5F9"/>
                </a:solidFill>
                <a:latin typeface="Consolas"/>
              </a:rPr>
              <a:t>file1</a:t>
            </a:r>
            <a:r>
              <a:rPr sz="1100">
                <a:solidFill>
                  <a:srgbClr val="FDBA74"/>
                </a:solidFill>
                <a:latin typeface="Consolas"/>
              </a:rPr>
              <a:t>', '</a:t>
            </a:r>
            <a:r>
              <a:rPr sz="1100">
                <a:solidFill>
                  <a:srgbClr val="F1F5F9"/>
                </a:solidFill>
                <a:latin typeface="Consolas"/>
              </a:rPr>
              <a:t>text1</a:t>
            </a:r>
            <a:r>
              <a:rPr sz="1100">
                <a:solidFill>
                  <a:srgbClr val="FDBA74"/>
                </a:solidFill>
                <a:latin typeface="Consolas"/>
              </a:rPr>
              <a:t>', '</a:t>
            </a:r>
            <a:r>
              <a:rPr sz="1100">
                <a:solidFill>
                  <a:srgbClr val="F1F5F9"/>
                </a:solidFill>
                <a:latin typeface="Consolas"/>
              </a:rPr>
              <a:t>Doc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A</a:t>
            </a:r>
            <a:r>
              <a:rPr sz="1100">
                <a:solidFill>
                  <a:srgbClr val="FDBA74"/>
                </a:solidFill>
                <a:latin typeface="Consolas"/>
              </a:rPr>
              <a:t>');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F1F5F9"/>
                </a:solidFill>
                <a:latin typeface="Consolas"/>
              </a:rPr>
              <a:t>    </a:t>
            </a:r>
            <a:r>
              <a:rPr sz="1100" b="1">
                <a:solidFill>
                  <a:srgbClr val="F472B6"/>
                </a:solidFill>
                <a:latin typeface="Consolas"/>
              </a:rPr>
              <a:t>const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t2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=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 b="1">
                <a:solidFill>
                  <a:srgbClr val="F472B6"/>
                </a:solidFill>
                <a:latin typeface="Consolas"/>
              </a:rPr>
              <a:t>await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extractText</a:t>
            </a:r>
            <a:r>
              <a:rPr sz="1100">
                <a:solidFill>
                  <a:srgbClr val="F1F5F9"/>
                </a:solidFill>
                <a:latin typeface="Consolas"/>
              </a:rPr>
              <a:t>('</a:t>
            </a:r>
            <a:r>
              <a:rPr sz="1100">
                <a:solidFill>
                  <a:srgbClr val="F1F5F9"/>
                </a:solidFill>
                <a:latin typeface="Consolas"/>
              </a:rPr>
              <a:t>file2</a:t>
            </a:r>
            <a:r>
              <a:rPr sz="1100">
                <a:solidFill>
                  <a:srgbClr val="FDBA74"/>
                </a:solidFill>
                <a:latin typeface="Consolas"/>
              </a:rPr>
              <a:t>', '</a:t>
            </a:r>
            <a:r>
              <a:rPr sz="1100">
                <a:solidFill>
                  <a:srgbClr val="F1F5F9"/>
                </a:solidFill>
                <a:latin typeface="Consolas"/>
              </a:rPr>
              <a:t>text2</a:t>
            </a:r>
            <a:r>
              <a:rPr sz="1100">
                <a:solidFill>
                  <a:srgbClr val="FDBA74"/>
                </a:solidFill>
                <a:latin typeface="Consolas"/>
              </a:rPr>
              <a:t>', '</a:t>
            </a:r>
            <a:r>
              <a:rPr sz="1100">
                <a:solidFill>
                  <a:srgbClr val="F1F5F9"/>
                </a:solidFill>
                <a:latin typeface="Consolas"/>
              </a:rPr>
              <a:t>Doc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B</a:t>
            </a:r>
            <a:r>
              <a:rPr sz="1100">
                <a:solidFill>
                  <a:srgbClr val="FDBA74"/>
                </a:solidFill>
                <a:latin typeface="Consolas"/>
              </a:rPr>
              <a:t>');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F1F5F9"/>
                </a:solidFill>
                <a:latin typeface="Consolas"/>
              </a:rPr>
              <a:t>    </a:t>
            </a:r>
            <a:r>
              <a:rPr sz="1100" b="1">
                <a:solidFill>
                  <a:srgbClr val="F472B6"/>
                </a:solidFill>
                <a:latin typeface="Consolas"/>
              </a:rPr>
              <a:t>if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(</a:t>
            </a:r>
            <a:r>
              <a:rPr sz="1100">
                <a:solidFill>
                  <a:srgbClr val="F1F5F9"/>
                </a:solidFill>
                <a:latin typeface="Consolas"/>
              </a:rPr>
              <a:t>t1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&amp;&amp;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!</a:t>
            </a:r>
            <a:r>
              <a:rPr sz="1100">
                <a:solidFill>
                  <a:srgbClr val="F1F5F9"/>
                </a:solidFill>
                <a:latin typeface="Consolas"/>
              </a:rPr>
              <a:t>t2</a:t>
            </a:r>
            <a:r>
              <a:rPr sz="1100">
                <a:solidFill>
                  <a:srgbClr val="F1F5F9"/>
                </a:solidFill>
                <a:latin typeface="Consolas"/>
              </a:rPr>
              <a:t>)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F1F5F9"/>
                </a:solidFill>
                <a:latin typeface="Consolas"/>
              </a:rPr>
              <a:t>      </a:t>
            </a:r>
            <a:r>
              <a:rPr sz="1100">
                <a:solidFill>
                  <a:srgbClr val="F1F5F9"/>
                </a:solidFill>
                <a:latin typeface="Consolas"/>
              </a:rPr>
              <a:t>renderSingleScannerResult</a:t>
            </a:r>
            <a:r>
              <a:rPr sz="1100">
                <a:solidFill>
                  <a:srgbClr val="F1F5F9"/>
                </a:solidFill>
                <a:latin typeface="Consolas"/>
              </a:rPr>
              <a:t>('</a:t>
            </a:r>
            <a:r>
              <a:rPr sz="1100">
                <a:solidFill>
                  <a:srgbClr val="F1F5F9"/>
                </a:solidFill>
                <a:latin typeface="Consolas"/>
              </a:rPr>
              <a:t>A</a:t>
            </a:r>
            <a:r>
              <a:rPr sz="1100">
                <a:solidFill>
                  <a:srgbClr val="FDBA74"/>
                </a:solidFill>
                <a:latin typeface="Consolas"/>
              </a:rPr>
              <a:t>',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t1</a:t>
            </a:r>
            <a:r>
              <a:rPr sz="1100">
                <a:solidFill>
                  <a:srgbClr val="F1F5F9"/>
                </a:solidFill>
                <a:latin typeface="Consolas"/>
              </a:rPr>
              <a:t>);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F1F5F9"/>
                </a:solidFill>
                <a:latin typeface="Consolas"/>
              </a:rPr>
              <a:t>    </a:t>
            </a:r>
            <a:r>
              <a:rPr sz="1100">
                <a:solidFill>
                  <a:srgbClr val="F1F5F9"/>
                </a:solidFill>
                <a:latin typeface="Consolas"/>
              </a:rPr>
              <a:t>}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 b="1">
                <a:solidFill>
                  <a:srgbClr val="F472B6"/>
                </a:solidFill>
                <a:latin typeface="Consolas"/>
              </a:rPr>
              <a:t>else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F1F5F9"/>
                </a:solidFill>
                <a:latin typeface="Consolas"/>
              </a:rPr>
              <a:t>      </a:t>
            </a:r>
            <a:r>
              <a:rPr sz="1100">
                <a:solidFill>
                  <a:srgbClr val="F1F5F9"/>
                </a:solidFill>
                <a:latin typeface="Consolas"/>
              </a:rPr>
              <a:t>renderComparisonResult</a:t>
            </a:r>
            <a:r>
              <a:rPr sz="1100">
                <a:solidFill>
                  <a:srgbClr val="F1F5F9"/>
                </a:solidFill>
                <a:latin typeface="Consolas"/>
              </a:rPr>
              <a:t>(</a:t>
            </a:r>
            <a:r>
              <a:rPr sz="1100">
                <a:solidFill>
                  <a:srgbClr val="F1F5F9"/>
                </a:solidFill>
                <a:latin typeface="Consolas"/>
              </a:rPr>
              <a:t>t1</a:t>
            </a:r>
            <a:r>
              <a:rPr sz="1100">
                <a:solidFill>
                  <a:srgbClr val="F1F5F9"/>
                </a:solidFill>
                <a:latin typeface="Consolas"/>
              </a:rPr>
              <a:t>,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t2</a:t>
            </a:r>
            <a:r>
              <a:rPr sz="1100">
                <a:solidFill>
                  <a:srgbClr val="F1F5F9"/>
                </a:solidFill>
                <a:latin typeface="Consolas"/>
              </a:rPr>
              <a:t>);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F1F5F9"/>
                </a:solidFill>
                <a:latin typeface="Consolas"/>
              </a:rPr>
              <a:t>    </a:t>
            </a:r>
            <a:r>
              <a:rPr sz="1100">
                <a:solidFill>
                  <a:srgbClr val="F1F5F9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F1F5F9"/>
                </a:solidFill>
                <a:latin typeface="Consolas"/>
              </a:rPr>
              <a:t>  </a:t>
            </a:r>
            <a:r>
              <a:rPr sz="1100">
                <a:solidFill>
                  <a:srgbClr val="F1F5F9"/>
                </a:solidFill>
                <a:latin typeface="Consolas"/>
              </a:rPr>
              <a:t>}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 b="1">
                <a:solidFill>
                  <a:srgbClr val="F472B6"/>
                </a:solidFill>
                <a:latin typeface="Consolas"/>
              </a:rPr>
              <a:t>catch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(</a:t>
            </a:r>
            <a:r>
              <a:rPr sz="1100">
                <a:solidFill>
                  <a:srgbClr val="F1F5F9"/>
                </a:solidFill>
                <a:latin typeface="Consolas"/>
              </a:rPr>
              <a:t>err</a:t>
            </a:r>
            <a:r>
              <a:rPr sz="1100">
                <a:solidFill>
                  <a:srgbClr val="F1F5F9"/>
                </a:solidFill>
                <a:latin typeface="Consolas"/>
              </a:rPr>
              <a:t>)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F1F5F9"/>
                </a:solidFill>
                <a:latin typeface="Consolas"/>
              </a:rPr>
              <a:t>    </a:t>
            </a:r>
            <a:r>
              <a:rPr sz="1100">
                <a:solidFill>
                  <a:srgbClr val="F1F5F9"/>
                </a:solidFill>
                <a:latin typeface="Consolas"/>
              </a:rPr>
              <a:t>showError</a:t>
            </a:r>
            <a:r>
              <a:rPr sz="1100">
                <a:solidFill>
                  <a:srgbClr val="F1F5F9"/>
                </a:solidFill>
                <a:latin typeface="Consolas"/>
              </a:rPr>
              <a:t>(</a:t>
            </a:r>
            <a:r>
              <a:rPr sz="1100">
                <a:solidFill>
                  <a:srgbClr val="F1F5F9"/>
                </a:solidFill>
                <a:latin typeface="Consolas"/>
              </a:rPr>
              <a:t>err</a:t>
            </a:r>
            <a:r>
              <a:rPr sz="1100">
                <a:solidFill>
                  <a:srgbClr val="F1F5F9"/>
                </a:solidFill>
                <a:latin typeface="Consolas"/>
              </a:rPr>
              <a:t>);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F1F5F9"/>
                </a:solidFill>
                <a:latin typeface="Consolas"/>
              </a:rPr>
              <a:t>  </a:t>
            </a:r>
            <a:r>
              <a:rPr sz="1100">
                <a:solidFill>
                  <a:srgbClr val="F1F5F9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F1F5F9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29. Testing &amp;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Tested offline OCR extraction with handwritten note scans (Math mappings and functions).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Tested digital PDF extraction page-by-page to check text stream reconstruction.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Verified similarity scores using identical and modified notes in the sandbox selector.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Confirmed that network firewalls have zero impact on scanning speeds or execution.</a:t>
            </a:r>
          </a:p>
        </p:txBody>
      </p:sp>
      <p:pic>
        <p:nvPicPr>
          <p:cNvPr id="4" name="Picture 3" descr="scanned_no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45920"/>
            <a:ext cx="4919472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30. Advantages, Limitations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Advantages: Serverless, completely cost-free hosting, total document privacy (local runs).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Limitations: Large files take longer to scan via browser CPU. Lack of database to store history.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• Future Scope: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  - Web Link compare support: input URL to check text against online web pages.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  - Multi-language OCR: dropdown to select Spanish, Hindi, or French scanning models.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  - PDF Report Export: client-side PDF compilation to save results offline.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371600"/>
            <a:ext cx="108173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31.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286000"/>
            <a:ext cx="108173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94A3B8"/>
                </a:solidFill>
                <a:latin typeface="Segoe UI"/>
              </a:defRPr>
            </a:pPr>
            <a:r>
              <a:t>We have successfully built a fully serverless, lightweight browser-based document scanner and similarity detector using Tesseract.js, PDF.js, and Mammoth.js.</a:t>
            </a:r>
            <a:br/>
            <a:br/>
            <a:r>
              <a:t>The project demonstrates that advanced AI parsing and NLP comparison algorithms can run completely locally on consumer browser engines, eliminating the need for expensive GPU-hosting setups.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389120"/>
            <a:ext cx="10817352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38BDF8"/>
                </a:solidFill>
                <a:latin typeface="Segoe UI"/>
              </a:defRPr>
            </a:pPr>
            <a:r>
              <a:t>THANK YOU</a:t>
            </a:r>
            <a:br/>
            <a:br/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