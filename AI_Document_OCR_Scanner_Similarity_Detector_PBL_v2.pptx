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182880"/>
            <a:ext cx="108173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AI-Based Document Similarity &amp; Duplicate Detection System Using NLP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AI-Based Document Processing Using OCR, NLP and Similarity Analysis</a:t>
            </a:r>
            <a:br/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18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468880"/>
            <a:ext cx="10817352" cy="3749039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8BDF8"/>
                </a:solidFill>
                <a:latin typeface="Segoe UI"/>
              </a:rPr>
              <a:t>NAME 1: </a:t>
            </a:r>
            <a:r>
              <a:rPr sz="1700">
                <a:solidFill>
                  <a:srgbClr val="FFFFFF"/>
                </a:solidFill>
                <a:latin typeface="Segoe UI"/>
              </a:rPr>
              <a:t>Nimavat Jaydeep M.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38BDF8"/>
                </a:solidFill>
                <a:latin typeface="Segoe UI"/>
              </a:rPr>
              <a:t>ENROLLMENT 1: </a:t>
            </a:r>
            <a:r>
              <a:rPr sz="1700">
                <a:solidFill>
                  <a:srgbClr val="FFFFFF"/>
                </a:solidFill>
                <a:latin typeface="Segoe UI"/>
              </a:rPr>
              <a:t>250043107032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8BDF8"/>
                </a:solidFill>
                <a:latin typeface="Segoe UI"/>
              </a:rPr>
              <a:t>NAME 2: </a:t>
            </a:r>
            <a:r>
              <a:rPr sz="1700">
                <a:solidFill>
                  <a:srgbClr val="FFFFFF"/>
                </a:solidFill>
                <a:latin typeface="Segoe UI"/>
              </a:rPr>
              <a:t>Upadhyay Hitarth S.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38BDF8"/>
                </a:solidFill>
                <a:latin typeface="Segoe UI"/>
              </a:rPr>
              <a:t>ENROLLMENT 2: </a:t>
            </a:r>
            <a:r>
              <a:rPr sz="1700">
                <a:solidFill>
                  <a:srgbClr val="FFFFFF"/>
                </a:solidFill>
                <a:latin typeface="Segoe UI"/>
              </a:rPr>
              <a:t>250043107050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38BDF8"/>
                </a:solidFill>
                <a:latin typeface="Segoe UI"/>
              </a:rPr>
              <a:t>BRANCH: </a:t>
            </a:r>
            <a:r>
              <a:rPr sz="1700">
                <a:solidFill>
                  <a:srgbClr val="FFFFFF"/>
                </a:solidFill>
                <a:latin typeface="Segoe UI"/>
              </a:rPr>
              <a:t>Computer Engineering     |     </a:t>
            </a:r>
            <a:r>
              <a:rPr sz="1700" b="1">
                <a:solidFill>
                  <a:srgbClr val="38BDF8"/>
                </a:solidFill>
                <a:latin typeface="Segoe UI"/>
              </a:rPr>
              <a:t>SEMESTER: </a:t>
            </a:r>
            <a:r>
              <a:rPr sz="17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6344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>
                <a:solidFill>
                  <a:srgbClr val="38BDF8"/>
                </a:solidFill>
                <a:latin typeface="Segoe UI"/>
              </a:rPr>
              <a:t>COLLEGE: </a:t>
            </a:r>
            <a:r>
              <a:rPr sz="1700">
                <a:solidFill>
                  <a:srgbClr val="FFFFFF"/>
                </a:solidFill>
                <a:latin typeface="Segoe UI"/>
              </a:rPr>
              <a:t>B H Gardi College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Document Similarity: The process of measuring the semantic or syntactic alignment between two text bodies.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Duplicate Detection: Identifying exact or highly rewritten copies of files to protect academic integrity.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Natural Language Processing (NLP): Used to clean, tokenize, and map raw text characters into mathematical arrays.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Automated Comparison: Bypasses slow manual grading reviews by running comparison algorithms in real-time.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Scope of Present Work: A client-side, browser-native pipeline capable of parsing PDF, DOCX, and scanned note photos.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100% Client-Side Web Application: Executed entirely in the browser using HTML5, CSS3, and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Document Ingestion: Extracts text dynamically from pasted strings or uploaded files (.txt, .pdf, .docx).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Offline OCR Scanner: Extracts handwritten or printed characters from note photos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Statistical NLP Math: Matches vocabulary sets using Cosine Vector models and Jaccard Set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Immediate Feedback: Shows circular gauges, metrics, and Turnitin-style highlighted match segments.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Inability to Scan Images: Standard plagiarism detectors completely fail to inspect book photos or handwritten notebook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Network Dependency Constraints: Python server setups are blocked by university firewall sockets, causing terminal timeout errors.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Heavy Server Costs: Spawning GPU-dependent server-side OCR modules is expensive and complex to maintain.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Data Leaks and Exposure: Uploading student work to proprietary databases exposes sensitive student 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Serverless Architecture: Deliver a high-performance scanner running completely on local client browser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Client-Side OCR Scanning: Perform text extractions from student note photos locally using Web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Combined Mathematical Models: Implement TF-IDF Cosine Similarity and Jaccard Indexing to catch rewritten copies.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Turnitin-style Diff: Render real-time visual highlight tags showing exact matching vocabularies.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Maximum Data Privacy: Prevent documents from ever leaving the student's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Zero Maintenance Overhead: Developing static pages (Netlify-ready) that run forever without paid database backends.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Bypassing Proxy Blocks: Eliminating Python terminal connection errors (`WinError 10060`) by using browser WebAssembly.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Time-Saving Automation: Evaluating handwritten pages or mathematical outlines in seconds.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Mobile Accessibility: Creating responsive layouts that fit on tablets and phones in a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System /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Python Flask/Streamlit Backends: Spawns heavy local servers running PyTorch or OpenCV frameworks.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Paid Subscriptions: Academic institutions depend on proprietary APIs (Copyleaks, Turnitin) with strict rate limits.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Static String Checks: Basic checkers match exact character lists, ignoring vocabulary distributions or synonym rewriting.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Manual Student Uploads: Teachers have to manually copy and paste image text before running checks.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Limitations of Existing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Network Timout Errors: Server socket connections crash frequently during model weight downloads.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Latency: Transmitting high-resolution student images to external APIs causes long processing queues.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Privacy Non-Compliance: Storing documents in shared clouds violates university student privacy policies.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Lack of Offline Scans: stream processes fail completely if the server loses internet connection.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100% Client-Side Engine: Browser WebAssembly compiles local parser scripts.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Multi-Format File Uploads: PDF.js and Mammoth.js process files locally.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IndexedDB Model Caching: Stores Tesseract OCR neural weights inside browser cache.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JavaScript NLP execution: tokenizes, cleans, and runs vector distance calculations on-device.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WebAssembly Tesseract OCR: Scans JPG/PNG text directly in the browser.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 &amp; Word Extraction: Parses files page-by-page client-side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Animated SVG Circular Gauge: Dynamic progress dial tracking the similarity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Sandbox Demo presets: Pre-loaded group theory notes to test features in one click.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Citation Filter checkbox: Ignores text inside double/single quotes during scoring.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Academic Grading Portals: Fast assignment checks directly within learning management portals.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Offline Verification: Scanning physical textbook sheets in offline university labs.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Private Homework Submissions: Validates original student answers without exposing them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Lightweight Plagiarism Review: Useful for grading committees to check duplicate reports on their phones.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Core Technologies: HTML5 Semantic Layout, CSS3 Variables (theme layout), ES6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OCR Parser: Tesseract.js (v5, runs Web Workers on local browser threads).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Adobe PDF Parser: PDF.js (v3.11.174, page-coordinate array parser).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Document Parser: Mammoth.js (v1.6.0, docx-to-XML plain text converter).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Hosting Platform: Netlify Continuous Deployment (connected via GitHub).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User Interface: Glassmorphic HTML5 dashboard handles inputs (files/text).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Extraction Layer: FileReader API reads bytes locally. Tesseract, PDF.js, and Mammoth parse to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NLP Core: JavaScript tokenizes text, cleans punctuation, and normalizes cases.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Comparison Core: JavaScript vectors compute Cosine and Jaccard similarity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Rendering: Updates orange highlighter spans and circular progress offsets dynamically.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Select: User selects text files, PDF files, Word files, or image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Loading: Spawns progress spinner overlays on form submit.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Extract: Browser libraries parse text content on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Calculate: Computes Cosine + Jaccard average match.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Render: Updates UI gauge and diff spans instantly.</a:t>
            </a:r>
          </a:p>
        </p:txBody>
      </p:sp>
      <p:pic>
        <p:nvPicPr>
          <p:cNvPr id="4" name="Picture 3" descr="ocr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Input Data / Document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Uploading File Formats: Supports .txt, .pdf, .docx, and images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Base64 Image Preview: Shows thumbnail previews of uploaded images directly in the columns.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Text Box Copy-Pasting: Users can type directly into the text areas to run instant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Sandbox Note Presets: Clickable buttons to load university math notes for quick validation.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FileReader API Conversion: Reads files locally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PDF.js Document parsing: `pdfjsLib.getDocument()` loads PDF arrays to memory.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Mammoth.js Paragraph extraction: Reads .docx file formats directly into clean text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 Worker sandboxing: Parsing processes run in browser threads so the dashboard stays fast.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Text Preprocessing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Case Normalization: `.toLowerCase()` standardizes casing to prevent capitalization mismatches.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Punctuation Removal: RegEx `.replace(/[^\w\s]/g, '')` strips symbols, commas, and periods.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Space Trimming: `.trim()` removes leading and trailing spaces.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Splitting: `.split(/\s+/)` separates the cleaned strings into token arrays of clean words.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arrays of individual word token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Vocabulary Set indexing: Converts token arrays into unique JavaScript Set structures.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Frequency mapping: Counts word occurrences to build frequency bags for vector matching.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Citation Filtering: Regex replaces quoted sections with blank space before similarity checks.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Term Frequency (TF) Maps: Maps occurrences of each word coordinate relative to the master list.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Multi-Dimensional Vectors: Represents both documents as coordinates, ready for distance calculation.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 Set: Combines both documents' word arrays into a master Vocab Set.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Frequency Mapping: Loops vocab list to count term occurrences in each document.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Vector Representation: Maps counts into coordinate arrays, ready for Cosine Distance calculations.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Cosine Similarity measures the angle between document vectors: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  Cosine Similarity = (A · B) / (||A|| * ||B||)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Dot Product: Multiplies matching coordinates between document maps.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Magnitudes product: Normalizes vectors to keep calculations accurate.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Length Independence: Ensures matching remains accurate even if document lengths differ.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200"/>
              </a:spcAft>
            </a:pPr>
            <a:r>
              <a:rPr sz="1100">
                <a:solidFill>
                  <a:srgbClr val="64748B"/>
                </a:solidFill>
                <a:latin typeface="Consolas"/>
              </a:rPr>
              <a:t>// Vector math in calculateCosine()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dotProduct =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mag1 =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let</a:t>
            </a:r>
            <a:r>
              <a:rPr sz="1100">
                <a:solidFill>
                  <a:srgbClr val="F1F5F9"/>
                </a:solidFill>
                <a:latin typeface="Consolas"/>
              </a:rPr>
              <a:t> mag2 =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vocab.forEach(word =&gt;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dotProduct += freq1[word] * freq2[word];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mag1 += freq1[word] * freq1[word];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mag2 += freq2[word] * freq2[word];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});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if</a:t>
            </a:r>
            <a:r>
              <a:rPr sz="1100">
                <a:solidFill>
                  <a:srgbClr val="F1F5F9"/>
                </a:solidFill>
                <a:latin typeface="Consolas"/>
              </a:rPr>
              <a:t> (mag1 ===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 || mag2 ===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) </a:t>
            </a: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(dotProduct / (Math.sqrt(mag1) * Math.sqrt(mag2))) * </a:t>
            </a:r>
            <a:r>
              <a:rPr sz="1100">
                <a:solidFill>
                  <a:srgbClr val="818CF8"/>
                </a:solidFill>
                <a:latin typeface="Consolas"/>
              </a:rPr>
              <a:t>100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overlap: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  Jaccard Index = |A ∩ B| / |A ∪ B|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Intersection: Counts shared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Union: Counts total combined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Dividing intersection by union outputs Jaccard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>
              <a:spcAft>
                <a:spcPts val="200"/>
              </a:spcAft>
            </a:pPr>
            <a:r>
              <a:rPr sz="1050" b="1" dirty="0">
                <a:solidFill>
                  <a:srgbClr val="F472B6"/>
                </a:solidFill>
                <a:latin typeface="Consolas"/>
              </a:rPr>
              <a:t>function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F1F5F9"/>
                </a:solidFill>
                <a:latin typeface="Consolas"/>
              </a:rPr>
              <a:t>calculateJaccard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(text1, text2) {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t1 = </a:t>
            </a:r>
            <a:r>
              <a:rPr sz="1050" dirty="0" err="1">
                <a:solidFill>
                  <a:srgbClr val="F1F5F9"/>
                </a:solidFill>
                <a:latin typeface="Consolas"/>
              </a:rPr>
              <a:t>cleanText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(text1);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t2 = </a:t>
            </a:r>
            <a:r>
              <a:rPr sz="1050" dirty="0" err="1">
                <a:solidFill>
                  <a:srgbClr val="F1F5F9"/>
                </a:solidFill>
                <a:latin typeface="Consolas"/>
              </a:rPr>
              <a:t>cleanText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(text2);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if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(!t1 || !t2)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return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</a:t>
            </a:r>
            <a:r>
              <a:rPr sz="1050" dirty="0">
                <a:solidFill>
                  <a:srgbClr val="818CF8"/>
                </a:solidFill>
                <a:latin typeface="Consolas"/>
              </a:rPr>
              <a:t>0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words1 =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new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Set(t1.split(/\s+/));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words2 =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new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Set(t2.split(/\s+/));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intersection =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new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Set(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    [...words1].filter(x =&gt; words2.has(x))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);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union =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new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Set([...words1, ...words2]);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if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(</a:t>
            </a:r>
            <a:r>
              <a:rPr sz="1050" dirty="0" err="1">
                <a:solidFill>
                  <a:srgbClr val="F1F5F9"/>
                </a:solidFill>
                <a:latin typeface="Consolas"/>
              </a:rPr>
              <a:t>union.size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=== </a:t>
            </a:r>
            <a:r>
              <a:rPr sz="1050" dirty="0">
                <a:solidFill>
                  <a:srgbClr val="818CF8"/>
                </a:solidFill>
                <a:latin typeface="Consolas"/>
              </a:rPr>
              <a:t>0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)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return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</a:t>
            </a:r>
            <a:r>
              <a:rPr sz="1050" dirty="0">
                <a:solidFill>
                  <a:srgbClr val="818CF8"/>
                </a:solidFill>
                <a:latin typeface="Consolas"/>
              </a:rPr>
              <a:t>0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50" b="1" dirty="0">
                <a:solidFill>
                  <a:srgbClr val="F472B6"/>
                </a:solidFill>
                <a:latin typeface="Consolas"/>
              </a:rPr>
              <a:t>return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(</a:t>
            </a:r>
            <a:r>
              <a:rPr sz="1050" dirty="0" err="1">
                <a:solidFill>
                  <a:srgbClr val="F1F5F9"/>
                </a:solidFill>
                <a:latin typeface="Consolas"/>
              </a:rPr>
              <a:t>intersection.size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 / </a:t>
            </a:r>
            <a:r>
              <a:rPr sz="1050" dirty="0" err="1">
                <a:solidFill>
                  <a:srgbClr val="F1F5F9"/>
                </a:solidFill>
                <a:latin typeface="Consolas"/>
              </a:rPr>
              <a:t>union.size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) * </a:t>
            </a:r>
            <a:r>
              <a:rPr sz="1050" dirty="0">
                <a:solidFill>
                  <a:srgbClr val="818CF8"/>
                </a:solidFill>
                <a:latin typeface="Consolas"/>
              </a:rPr>
              <a:t>100</a:t>
            </a:r>
            <a:r>
              <a:rPr sz="1050" dirty="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50" dirty="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Duplicate Detection Logic &amp; Thresholds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Combined Score: Calculates the average of Cosine Similarity and Jaccard Index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Severity Warning Classifications in JavaScript: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 - 100%: Direct Copy / Duplicate (Red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- 89%: Highly Similar (Orange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- 69%: Moderately Similar (Yellow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- 39%: Slightly Similar (Blue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Below 15%: Completely Unique (Green Color)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Document Comparison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Visual Word Diff: Highlight algorithm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Matches are wrapped in custom span elements.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Orange Highlights: Identifies identical matching words in both documents.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Clipboard integration: Copy buttons to extract matching strings in one click.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Similarity Results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Custom Score Gauge: Shows final similarity score inside the dynamic progress circle.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Match Status Card: Displays text descriptions (e.g. 'Moderately Similar', 'Highly Similar').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Count Stats: Renders exact word counts for both Document A and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Visual preview: Displays the uploaded note photo directly in the column.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Visualization (SVG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Circular progress ring rendered in inline SVG.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JS computes dynamic stroke-dashoffset for score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Smooth 1.5s CSS transition filling animation.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Glow and circle colors update dynamically matching similarity severity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// Render score with SVG gauge animation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 = </a:t>
            </a:r>
            <a:r>
              <a:rPr sz="1200">
                <a:solidFill>
                  <a:srgbClr val="38BDF8"/>
                </a:solidFill>
                <a:latin typeface="Consolas"/>
              </a:rPr>
              <a:t>document</a:t>
            </a:r>
            <a:r>
              <a:rPr sz="1200">
                <a:solidFill>
                  <a:srgbClr val="F1F5F9"/>
                </a:solidFill>
                <a:latin typeface="Consolas"/>
              </a:rPr>
              <a:t>.getElementById('radial-bar</a:t>
            </a:r>
            <a:r>
              <a:rPr sz="12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circumference = </a:t>
            </a:r>
            <a:r>
              <a:rPr sz="1200">
                <a:solidFill>
                  <a:srgbClr val="818CF8"/>
                </a:solidFill>
                <a:latin typeface="Consolas"/>
              </a:rPr>
              <a:t>326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818CF8"/>
                </a:solidFill>
                <a:latin typeface="Consolas"/>
              </a:rPr>
              <a:t>7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offset = circumference - (circumference * scoreInt /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.style.strokeDashoffset = offset;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.style.stroke = color;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.style.filter = `drop-shadow(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8px ${color}</a:t>
            </a:r>
            <a:r>
              <a:rPr sz="1200">
                <a:solidFill>
                  <a:srgbClr val="818CF8"/>
                </a:solidFill>
                <a:latin typeface="Consolas"/>
              </a:rPr>
              <a:t>80</a:t>
            </a:r>
            <a:r>
              <a:rPr sz="1200">
                <a:solidFill>
                  <a:srgbClr val="F1F5F9"/>
                </a:solidFill>
                <a:latin typeface="Consolas"/>
              </a:rPr>
              <a:t>)`;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Midnight Slate-Blue gradient background (`#0f172a` to `#1e293b`).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Glassmorphic interface: Semi-transparent panels with background blur.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Dual Column Previews with uploaded image display placeholders.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Single OCR scanner mode and double comparison mode.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>
              <a:spcAft>
                <a:spcPts val="200"/>
              </a:spcAft>
            </a:pPr>
            <a:r>
              <a:rPr sz="1000" b="1" dirty="0">
                <a:solidFill>
                  <a:srgbClr val="F472B6"/>
                </a:solidFill>
                <a:latin typeface="Consolas"/>
              </a:rPr>
              <a:t>async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function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startScanner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() {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overlay = </a:t>
            </a:r>
            <a:r>
              <a:rPr sz="1000" dirty="0" err="1">
                <a:solidFill>
                  <a:srgbClr val="38BDF8"/>
                </a:solidFill>
                <a:latin typeface="Consolas"/>
              </a:rPr>
              <a:t>document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.getElementById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('loader-overlay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errorBox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= </a:t>
            </a:r>
            <a:r>
              <a:rPr sz="1000" dirty="0" err="1">
                <a:solidFill>
                  <a:srgbClr val="38BDF8"/>
                </a:solidFill>
                <a:latin typeface="Consolas"/>
              </a:rPr>
              <a:t>document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.getElementById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('error-box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errorBox.style.display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= 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'none'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overlay.style.display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= 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'flex'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try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{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t1 =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await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extractText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('file1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', '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text1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', '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Document A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const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t2 =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await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extractText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('file2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', '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text2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', '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Document B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if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(t1.trim() &amp;&amp; !t2.trim()) {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renderSingleScannerResult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('A</a:t>
            </a:r>
            <a:r>
              <a:rPr sz="1000" dirty="0">
                <a:solidFill>
                  <a:srgbClr val="FDBA74"/>
                </a:solidFill>
                <a:latin typeface="Consolas"/>
              </a:rPr>
              <a:t>',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t1, file1);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    }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else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{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    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renderComparisonResult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(t1, t2);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    }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} </a:t>
            </a:r>
            <a:r>
              <a:rPr sz="1000" b="1" dirty="0">
                <a:solidFill>
                  <a:srgbClr val="F472B6"/>
                </a:solidFill>
                <a:latin typeface="Consolas"/>
              </a:rPr>
              <a:t>catch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(err) {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errorBox.innerText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 = err;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000" dirty="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Advantages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Advantages: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- 100% Serverless: Bypasses server maintenance fees and offline/online proxy socket blocks.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Data Privacy: Files are processed completely in the browser and never sent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Mobile Responsive: Renders cleanly on phones and tablets during presentations.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Limitations: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CPU Bound: Heavy files take longer to scan via client-side JavaScript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No Database: Similarity reports cannot be saved in a remote history database.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Multi-Language OCR: Add dropdown support for Spanish, Hindi, or French training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 Link comparisons: Paste direct URLs to fetch and check similarity against live websites.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 report downloads: Compile plagiarism match reports directly in the browser to download offline.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Sentence Embeddings: Integrate client-side Transformers (like ONNX) for semantic similarity matching.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client-side document similarity and duplicate detection system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2726</Words>
  <Application>Microsoft Office PowerPoint</Application>
  <PresentationFormat>Custom</PresentationFormat>
  <Paragraphs>228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tushar nimavat</cp:lastModifiedBy>
  <cp:revision>2</cp:revision>
  <dcterms:created xsi:type="dcterms:W3CDTF">2013-01-27T09:14:16Z</dcterms:created>
  <dcterms:modified xsi:type="dcterms:W3CDTF">2026-08-22T09:17:42Z</dcterms:modified>
  <cp:category/>
</cp:coreProperties>
</file>