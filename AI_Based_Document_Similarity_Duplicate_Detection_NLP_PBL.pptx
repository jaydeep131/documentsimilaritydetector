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65760"/>
            <a:ext cx="3931920" cy="8229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2011680"/>
            <a:ext cx="1081735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600" b="1">
                <a:solidFill>
                  <a:srgbClr val="1E3A8A"/>
                </a:solidFill>
                <a:latin typeface="Segoe UI"/>
              </a:defRPr>
            </a:pPr>
            <a:r>
              <a:t>AI-Based Document Similarity &amp; Duplicate</a:t>
            </a:r>
            <a:br/>
            <a:r>
              <a:t>Detection System Using NLP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0EA5E9"/>
                </a:solidFill>
                <a:latin typeface="Segoe UI"/>
              </a:defRPr>
            </a:pPr>
            <a:r>
              <a:t>SUBJECT: PYTHON FOR DATA SCIENCE (BE05000231)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89120"/>
            <a:ext cx="50292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Presented By:</a:t>
            </a:r>
          </a:p>
          <a:p>
            <a:pPr>
              <a:spcBef>
                <a:spcPts val="600"/>
              </a:spcBef>
              <a:defRPr sz="1600">
                <a:solidFill>
                  <a:srgbClr val="475569"/>
                </a:solidFill>
                <a:latin typeface="Segoe UI"/>
              </a:defRPr>
            </a:pPr>
            <a:r>
              <a:t>Nimavat Jaydeep M.</a:t>
            </a:r>
            <a:br/>
            <a:r>
              <a:t>Enrollment: 250043107032</a:t>
            </a:r>
          </a:p>
          <a:p>
            <a:pPr>
              <a:spcBef>
                <a:spcPts val="600"/>
              </a:spcBef>
              <a:defRPr sz="1600">
                <a:solidFill>
                  <a:srgbClr val="475569"/>
                </a:solidFill>
                <a:latin typeface="Segoe UI"/>
              </a:defRPr>
            </a:pPr>
            <a:r>
              <a:t>Upadhyay Hitarth S.</a:t>
            </a:r>
            <a:br/>
            <a:r>
              <a:t>Enrollment: 250043107050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9400" y="4389120"/>
            <a:ext cx="45720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Branch &amp; Semester:</a:t>
            </a:r>
          </a:p>
          <a:p>
            <a:pPr>
              <a:spcBef>
                <a:spcPts val="600"/>
              </a:spcBef>
              <a:defRPr sz="1600">
                <a:solidFill>
                  <a:srgbClr val="475569"/>
                </a:solidFill>
                <a:latin typeface="Segoe UI"/>
              </a:defRPr>
            </a:pPr>
            <a:r>
              <a:t>Computer Engineering (CE)</a:t>
            </a:r>
            <a:br/>
            <a:r>
              <a:t>Semester: 5</a:t>
            </a:r>
          </a:p>
          <a:p>
            <a:pPr>
              <a:spcBef>
                <a:spcPts val="600"/>
              </a:spcBef>
              <a:defRPr sz="1600">
                <a:solidFill>
                  <a:srgbClr val="475569"/>
                </a:solidFill>
                <a:latin typeface="Segoe UI"/>
              </a:defRPr>
            </a:pPr>
            <a:r>
              <a:t>College:</a:t>
            </a:r>
            <a:br/>
            <a:r>
              <a:t>B H Gardi College Of Engineering &amp;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1. Introduction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Document Similarity: The process of measuring the semantic or syntactic alignment between two text bodies.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Duplicate Detection: Identifying exact or highly rewritten copies of files to protect academic integrity.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Natural Language Processing (NLP): Used to clean, tokenize, and map raw text characters into mathematical arrays.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Automated Comparison: Bypasses slow manual grading reviews by running comparison algorithms in real-time.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Scope of Present Work: A client-side, browser-native pipeline capable of parsing PDF, DOCX, and scanned note photos.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2. Project Overview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100% Client-Side Web Application: Executed entirely in the browser using HTML5, CSS3, and JavaScript.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Document Ingestion: Extracts text dynamically from pasted strings or uploaded files (.txt, .pdf, .docx).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Offline OCR Scanner: Extracts handwritten or printed characters from note photos (.png, .jpg, .jpeg).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Statistical NLP Math: Matches vocabulary sets using Cosine Vector models and Jaccard Set indices.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Immediate Feedback: Shows circular gauges, metrics, and Turnitin-style highlighted match segments.</a:t>
            </a:r>
          </a:p>
        </p:txBody>
      </p:sp>
      <p:pic>
        <p:nvPicPr>
          <p:cNvPr id="5" name="Picture 4" descr="ui_emp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3. Problem Statement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Inability to Scan Images: Standard plagiarism detectors completely fail to inspect book photos or handwritten notebook scans.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Network Dependency Constraints: Python server setups are blocked by university firewall sockets, causing terminal timeout errors.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Heavy Server Costs: Spawning GPU-dependent server-side OCR modules is expensive and complex to maintain.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Data Leaks and Exposure: Uploading student work to proprietary databases exposes sensitive student files.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4. Project Objectives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Serverless Architecture: Deliver a high-performance scanner running completely on local client browser threads.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Client-Side OCR Scanning: Perform text extractions from student note photos locally using Web Workers.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Combined Mathematical Models: Implement TF-IDF Cosine Similarity and Jaccard Indexing to catch rewritten copies.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Turnitin-style Diff: Render real-time visual highlight tags showing exact matching vocabularies.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Maximum Data Privacy: Prevent documents from ever leaving the student's browser.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5. Project Motivation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Zero Maintenance Overhead: Developing static pages (Netlify-ready) that run forever without paid database backends.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Bypassing Proxy Blocks: Eliminating Python terminal connection errors (`WinError 10060`) by using browser WebAssembly.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Time-Saving Automation: Evaluating handwritten pages or mathematical outlines in seconds.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Mobile Accessibility: Creating responsive layouts that fit on tablets and phones in a presentation room.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6. Existing System / Existing Approach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Python Flask/Streamlit Backends: Spawns heavy local servers running PyTorch or OpenCV frameworks.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Paid Subscriptions: Academic institutions depend on proprietary APIs (Copyleaks, Turnitin) with strict rate limits.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Static String Checks: Basic checkers match exact character lists, ignoring vocabulary distributions or synonym rewriting.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Manual Student Uploads: Teachers have to manually copy and paste image text before running checks.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7. Limitations of Existing System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Network Timout Errors: Server socket connections crash frequently during model weight downloads.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Latency: Transmitting high-resolution student images to external APIs causes long processing queues.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Privacy Non-Compliance: Storing documents in shared clouds violates university student privacy policies.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Lack of Offline Scans: stream processes fail completely if the server loses internet connection.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8. Proposed System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100% Client-Side Engine: Browser WebAssembly compiles local parser scripts.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Multi-Format File Uploads: PDF.js and Mammoth.js process files locally.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IndexedDB Model Caching: Stores Tesseract OCR neural weights inside browser cache.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JavaScript NLP execution: tokenizes, cleans, and runs vector distance calculations on-device.</a:t>
            </a:r>
          </a:p>
        </p:txBody>
      </p:sp>
      <p:pic>
        <p:nvPicPr>
          <p:cNvPr id="5" name="Picture 4" descr="ui_sand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9. Key Features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WebAssembly Tesseract OCR: Scans JPG/PNG text directly in the browser.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PDF &amp; Word Extraction: Parses files page-by-page client-side using JavaScript array buffers.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Animated SVG Circular Gauge: Dynamic progress dial tracking the similarity score.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Sandbox Demo presets: Pre-loaded group theory notes to test features in one click.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Citation Filter checkbox: Ignores text inside double/single quotes during scoring.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10. Project Scope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Academic Grading Portals: Fast assignment checks directly within learning management portals.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Offline Verification: Scanning physical textbook sheets in offline university labs.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Private Homework Submissions: Validates original student answers without exposing them online.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Lightweight Plagiarism Review: Useful for grading committees to check duplicate reports on their phones.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11. Technology Stack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Core Technologies: HTML5 Semantic Layout, CSS3 Variables (theme layout), ES6 JavaScript.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OCR Parser: Tesseract.js (v5, runs Web Workers on local browser threads).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Adobe PDF Parser: PDF.js (v3.11.174, page-coordinate array parser).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Word Document Parser: Mammoth.js (v1.6.0, docx-to-XML plain text converter).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Hosting Platform: Netlify Continuous Deployment (connected via GitHub).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12. System Architecture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User Interface: Glassmorphic HTML5 dashboard handles inputs (files/text).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Extraction Layer: FileReader API reads bytes locally. Tesseract, PDF.js, and Mammoth parse to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NLP Core: JavaScript tokenizes text, cleans punctuation, and normalizes cases.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Comparison Core: JavaScript vectors compute Cosine and Jaccard similarity indices.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Rendering: Updates orange highlighter spans and circular progress offsets dynamically.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13. System Workflow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Select: User selects text files, PDF files, Word files, or image scans.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Loading: Spawns progress spinner overlays on form submit.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Extract: Browser libraries parse text content on workers.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Calculate: Computes Cosine + Jaccard average match.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Render: Updates UI gauge and diff spans instantly.</a:t>
            </a:r>
          </a:p>
        </p:txBody>
      </p:sp>
      <p:pic>
        <p:nvPicPr>
          <p:cNvPr id="5" name="Picture 4" descr="system_workflow_diagr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14. Input Data / Document Input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Uploading File Formats: Supports .txt, .pdf, .docx, and images (.png, .jpg, .jpeg).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Base64 Image Preview: Shows thumbnail previews of uploaded images directly in the columns.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Text Box Copy-Pasting: Users can type directly into the text areas to run instant comparisons.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Sandbox Note Presets: Clickable buttons to load university math notes for quick validation.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15. Document Processing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FileReader API Conversion: Reads files locally using Javascript array buffers.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PDF.js Document parsing: `pdfjsLib.getDocument()` loads PDF arrays to memory.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Mammoth.js Paragraph extraction: Reads .docx file formats directly into clean text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Web Worker sandboxing: Parsing processes run in browser threads so the dashboard stays fast.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16. Text Preprocessing Pipeline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Case Normalization: `.toLowerCase()` standardizes casing to prevent capitalization mismatches.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Punctuation Removal: RegEx `.replace(/[^\w\s]/g, '')` strips symbols, commas, and periods.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Space Trimming: `.trim()` removes leading and trailing spaces.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Word Splitting: `.split(/\s+/)` separates the cleaned strings into token arrays of clean words.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17. NLP Processing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Tokenization: Splits text strings into arrays of individual word token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Vocabulary Set indexing: Converts token arrays into unique JavaScript Set structures.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Frequency mapping: Counts word occurrences to build frequency bags for vector matching.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Citation Filtering: Regex replaces quoted sections with blank space before similarity checks.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18. Text Representation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Vocabulary Union Vector: Compares word sets from both documents to create a master list of all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Term Frequency (TF) Maps: Maps occurrences of each word coordinate relative to the master list.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Multi-Dimensional Vectors: Represents both documents as coordinates, ready for distance calculation.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19. Term Frequency (TF) Vector Method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Actual Method in Code: Dynamic Word Frequency Vectors.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Vocab Set: Combines both documents' word arrays into a master Vocab Set.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Frequency Mapping: Loops vocab list to count term occurrences in each document.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Vector Representation: Maps counts into coordinate arrays, ready for Cosine Distance calculations.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20. Cosine Similarity Vector Math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Cosine Similarity measures the angle between document vectors:</a:t>
            </a:r>
          </a:p>
          <a:p>
            <a:pPr>
              <a:spcAft>
                <a:spcPts val="1200"/>
              </a:spcAft>
              <a:defRPr sz="1800">
                <a:solidFill>
                  <a:srgbClr val="475569"/>
                </a:solidFill>
                <a:latin typeface="Segoe UI"/>
              </a:defRPr>
            </a:pPr>
            <a:r>
              <a:t>  Cosine Similarity = (A · B) / (||A|| * ||B||)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Dot Product: Multiplies matching coordinates between document maps.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Magnitudes product: Normalizes vectors to keep calculations accurate.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Length Independence: Ensures matching remains accurate even if document lengths differ.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64748B"/>
                </a:solidFill>
                <a:latin typeface="Consolas"/>
              </a:rPr>
              <a:t>// Vector math in calculateCosine()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let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dotProduct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let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mag1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let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mag2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vocab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forEach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=&gt;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dotProduct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+=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freq1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freq2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mag1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+=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freq1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freq1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mag2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+=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freq2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freq2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});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if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mag1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===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||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mag2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===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dotProduct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/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Math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sqrt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mag1</a:t>
            </a:r>
            <a:r>
              <a:rPr sz="1100">
                <a:solidFill>
                  <a:srgbClr val="F1F5F9"/>
                </a:solidFill>
                <a:latin typeface="Consolas"/>
              </a:rPr>
              <a:t>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Math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sqrt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mag2</a:t>
            </a:r>
            <a:r>
              <a:rPr sz="1100">
                <a:solidFill>
                  <a:srgbClr val="F1F5F9"/>
                </a:solidFill>
                <a:latin typeface="Consolas"/>
              </a:rPr>
              <a:t>)))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100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21. Similarity Detection (Jaccard Index)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Checks overall Vocabulary Set overlap:</a:t>
            </a:r>
          </a:p>
          <a:p>
            <a:pPr>
              <a:spcAft>
                <a:spcPts val="1200"/>
              </a:spcAft>
              <a:defRPr sz="1800">
                <a:solidFill>
                  <a:srgbClr val="475569"/>
                </a:solidFill>
                <a:latin typeface="Segoe UI"/>
              </a:defRPr>
            </a:pPr>
            <a:r>
              <a:t>  Jaccard Index = |A ∩ B| / |A ∪ B|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Intersection: Counts shared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Union: Counts total combined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Dividing intersection by union outputs Jaccard percentage.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Highly effective at catching copied vocabulary sets.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472B6"/>
                </a:solidFill>
                <a:latin typeface="Consolas"/>
              </a:rPr>
              <a:t>function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calculateJaccard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text1</a:t>
            </a:r>
            <a:r>
              <a:rPr sz="1050">
                <a:solidFill>
                  <a:srgbClr val="F1F5F9"/>
                </a:solidFill>
                <a:latin typeface="Consolas"/>
              </a:rPr>
              <a:t>,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text2</a:t>
            </a:r>
            <a:r>
              <a:rPr sz="1050">
                <a:solidFill>
                  <a:srgbClr val="F1F5F9"/>
                </a:solidFill>
                <a:latin typeface="Consolas"/>
              </a:rPr>
              <a:t>)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t1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cleanText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text1</a:t>
            </a:r>
            <a:r>
              <a:rPr sz="105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t2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cleanText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text2</a:t>
            </a:r>
            <a:r>
              <a:rPr sz="105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if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(!</a:t>
            </a:r>
            <a:r>
              <a:rPr sz="1050">
                <a:solidFill>
                  <a:srgbClr val="F1F5F9"/>
                </a:solidFill>
                <a:latin typeface="Consolas"/>
              </a:rPr>
              <a:t>t1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||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!</a:t>
            </a:r>
            <a:r>
              <a:rPr sz="1050">
                <a:solidFill>
                  <a:srgbClr val="F1F5F9"/>
                </a:solidFill>
                <a:latin typeface="Consolas"/>
              </a:rPr>
              <a:t>t2</a:t>
            </a:r>
            <a:r>
              <a:rPr sz="1050">
                <a:solidFill>
                  <a:srgbClr val="F1F5F9"/>
                </a:solidFill>
                <a:latin typeface="Consolas"/>
              </a:rPr>
              <a:t>)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818CF8"/>
                </a:solidFill>
                <a:latin typeface="Consolas"/>
              </a:rPr>
              <a:t>0</a:t>
            </a:r>
            <a:r>
              <a:rPr sz="105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words1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new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Set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t1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split</a:t>
            </a:r>
            <a:r>
              <a:rPr sz="1050">
                <a:solidFill>
                  <a:srgbClr val="F1F5F9"/>
                </a:solidFill>
                <a:latin typeface="Consolas"/>
              </a:rPr>
              <a:t>(/\</a:t>
            </a:r>
            <a:r>
              <a:rPr sz="1050">
                <a:solidFill>
                  <a:srgbClr val="F1F5F9"/>
                </a:solidFill>
                <a:latin typeface="Consolas"/>
              </a:rPr>
              <a:t>s</a:t>
            </a:r>
            <a:r>
              <a:rPr sz="1050">
                <a:solidFill>
                  <a:srgbClr val="F1F5F9"/>
                </a:solidFill>
                <a:latin typeface="Consolas"/>
              </a:rPr>
              <a:t>+/));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words2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new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Set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t2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split</a:t>
            </a:r>
            <a:r>
              <a:rPr sz="1050">
                <a:solidFill>
                  <a:srgbClr val="F1F5F9"/>
                </a:solidFill>
                <a:latin typeface="Consolas"/>
              </a:rPr>
              <a:t>(/\</a:t>
            </a:r>
            <a:r>
              <a:rPr sz="1050">
                <a:solidFill>
                  <a:srgbClr val="F1F5F9"/>
                </a:solidFill>
                <a:latin typeface="Consolas"/>
              </a:rPr>
              <a:t>s</a:t>
            </a:r>
            <a:r>
              <a:rPr sz="1050">
                <a:solidFill>
                  <a:srgbClr val="F1F5F9"/>
                </a:solidFill>
                <a:latin typeface="Consolas"/>
              </a:rPr>
              <a:t>+/));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intersection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new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Set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    </a:t>
            </a:r>
            <a:r>
              <a:rPr sz="1050">
                <a:solidFill>
                  <a:srgbClr val="F1F5F9"/>
                </a:solidFill>
                <a:latin typeface="Consolas"/>
              </a:rPr>
              <a:t>[...</a:t>
            </a:r>
            <a:r>
              <a:rPr sz="1050">
                <a:solidFill>
                  <a:srgbClr val="F1F5F9"/>
                </a:solidFill>
                <a:latin typeface="Consolas"/>
              </a:rPr>
              <a:t>words1</a:t>
            </a:r>
            <a:r>
              <a:rPr sz="1050">
                <a:solidFill>
                  <a:srgbClr val="F1F5F9"/>
                </a:solidFill>
                <a:latin typeface="Consolas"/>
              </a:rPr>
              <a:t>].</a:t>
            </a:r>
            <a:r>
              <a:rPr sz="1050">
                <a:solidFill>
                  <a:srgbClr val="F1F5F9"/>
                </a:solidFill>
                <a:latin typeface="Consolas"/>
              </a:rPr>
              <a:t>filter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x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=&gt;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words2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has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x</a:t>
            </a:r>
            <a:r>
              <a:rPr sz="1050">
                <a:solidFill>
                  <a:srgbClr val="F1F5F9"/>
                </a:solidFill>
                <a:latin typeface="Consolas"/>
              </a:rPr>
              <a:t>))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union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new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Set</a:t>
            </a:r>
            <a:r>
              <a:rPr sz="1050">
                <a:solidFill>
                  <a:srgbClr val="F1F5F9"/>
                </a:solidFill>
                <a:latin typeface="Consolas"/>
              </a:rPr>
              <a:t>([...</a:t>
            </a:r>
            <a:r>
              <a:rPr sz="1050">
                <a:solidFill>
                  <a:srgbClr val="F1F5F9"/>
                </a:solidFill>
                <a:latin typeface="Consolas"/>
              </a:rPr>
              <a:t>words1</a:t>
            </a:r>
            <a:r>
              <a:rPr sz="1050">
                <a:solidFill>
                  <a:srgbClr val="F1F5F9"/>
                </a:solidFill>
                <a:latin typeface="Consolas"/>
              </a:rPr>
              <a:t>,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...</a:t>
            </a:r>
            <a:r>
              <a:rPr sz="1050">
                <a:solidFill>
                  <a:srgbClr val="F1F5F9"/>
                </a:solidFill>
                <a:latin typeface="Consolas"/>
              </a:rPr>
              <a:t>words2</a:t>
            </a:r>
            <a:r>
              <a:rPr sz="1050">
                <a:solidFill>
                  <a:srgbClr val="F1F5F9"/>
                </a:solidFill>
                <a:latin typeface="Consolas"/>
              </a:rPr>
              <a:t>]);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if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union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size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===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818CF8"/>
                </a:solidFill>
                <a:latin typeface="Consolas"/>
              </a:rPr>
              <a:t>0</a:t>
            </a:r>
            <a:r>
              <a:rPr sz="1050">
                <a:solidFill>
                  <a:srgbClr val="F1F5F9"/>
                </a:solidFill>
                <a:latin typeface="Consolas"/>
              </a:rPr>
              <a:t>)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818CF8"/>
                </a:solidFill>
                <a:latin typeface="Consolas"/>
              </a:rPr>
              <a:t>0</a:t>
            </a:r>
            <a:r>
              <a:rPr sz="105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intersection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size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/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union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size</a:t>
            </a:r>
            <a:r>
              <a:rPr sz="1050">
                <a:solidFill>
                  <a:srgbClr val="F1F5F9"/>
                </a:solidFill>
                <a:latin typeface="Consolas"/>
              </a:rPr>
              <a:t>)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*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818CF8"/>
                </a:solidFill>
                <a:latin typeface="Consolas"/>
              </a:rPr>
              <a:t>100</a:t>
            </a:r>
            <a:r>
              <a:rPr sz="105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22. Duplicate Detection Logic &amp; Thresholds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Combined Score: Calculates the average of Cosine Similarity and Jaccard Index score.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Severity Warning Classifications in JavaScript: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  - 90% - 100%: Direct Copy / Duplicate (Red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  - 70% - 89%: Highly Similar (Orange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  - 40% - 69%: Moderately Similar (Yellow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  - 15% - 39%: Slightly Similar (Blue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  - Below 15%: Completely Unique (Green Color)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23. Document Comparison Preview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Visual Word Diff: Highlight algorithm checks if a word in Document A exists in the vocabulary set of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Matches are wrapped in custom span elements.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Orange Highlights: Identifies identical matching words in both documents.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Clipboard integration: Copy buttons to extract matching strings in one click.</a:t>
            </a:r>
          </a:p>
        </p:txBody>
      </p:sp>
      <p:pic>
        <p:nvPicPr>
          <p:cNvPr id="5" name="Picture 4" descr="diff_highligh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24. Similarity Results Dashboard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Custom Score Gauge: Shows final similarity score inside the dynamic progress circle.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Match Status Card: Displays text descriptions (e.g. 'Moderately Similar', 'Highly Similar').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Word Count Stats: Renders exact word counts for both Document A and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Visual preview: Displays the uploaded note photo directly in the column.</a:t>
            </a:r>
          </a:p>
        </p:txBody>
      </p:sp>
      <p:pic>
        <p:nvPicPr>
          <p:cNvPr id="5" name="Picture 4" descr="ui_sand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25. Similarity Visualization (SVG Gauge)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Circular progress ring rendered in inline SVG.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Circumference = 326.7px (radius = 52px).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JS computes dynamic stroke-dashoffset for score percentage.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Smooth 1.5s CSS transition filling animation.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Glow and circle colors update dynamically matching similarity severity levels.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// Render score with SVG gauge animation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38BDF8"/>
                </a:solidFill>
                <a:latin typeface="Consolas"/>
              </a:rPr>
              <a:t>document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getElementById</a:t>
            </a:r>
            <a:r>
              <a:rPr sz="1200">
                <a:solidFill>
                  <a:srgbClr val="F1F5F9"/>
                </a:solidFill>
                <a:latin typeface="Consolas"/>
              </a:rPr>
              <a:t>('</a:t>
            </a:r>
            <a:r>
              <a:rPr sz="1200">
                <a:solidFill>
                  <a:srgbClr val="F1F5F9"/>
                </a:solidFill>
                <a:latin typeface="Consolas"/>
              </a:rPr>
              <a:t>radial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bar</a:t>
            </a:r>
            <a:r>
              <a:rPr sz="12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326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818CF8"/>
                </a:solidFill>
                <a:latin typeface="Consolas"/>
              </a:rPr>
              <a:t>7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offset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scoreInt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/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100</a:t>
            </a:r>
            <a:r>
              <a:rPr sz="12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strokeDashoffset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offset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stroke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color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filter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`</a:t>
            </a:r>
            <a:r>
              <a:rPr sz="1200">
                <a:solidFill>
                  <a:srgbClr val="F1F5F9"/>
                </a:solidFill>
                <a:latin typeface="Consolas"/>
              </a:rPr>
              <a:t>drop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shadow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8px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${</a:t>
            </a:r>
            <a:r>
              <a:rPr sz="1200">
                <a:solidFill>
                  <a:srgbClr val="F1F5F9"/>
                </a:solidFill>
                <a:latin typeface="Consolas"/>
              </a:rPr>
              <a:t>color</a:t>
            </a:r>
            <a:r>
              <a:rPr sz="1200">
                <a:solidFill>
                  <a:srgbClr val="F1F5F9"/>
                </a:solidFill>
                <a:latin typeface="Consolas"/>
              </a:rPr>
              <a:t>}</a:t>
            </a:r>
            <a:r>
              <a:rPr sz="1200">
                <a:solidFill>
                  <a:srgbClr val="818CF8"/>
                </a:solidFill>
                <a:latin typeface="Consolas"/>
              </a:rPr>
              <a:t>80</a:t>
            </a:r>
            <a:r>
              <a:rPr sz="1200">
                <a:solidFill>
                  <a:srgbClr val="F1F5F9"/>
                </a:solidFill>
                <a:latin typeface="Consolas"/>
              </a:rPr>
              <a:t>)`;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26. User Interface Design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Midnight Slate-Blue gradient background (`#0f172a` to `#1e293b`).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Glassmorphic interface: Semi-transparent panels with background blur.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Google Fonts integration (Plus Jakarta Sans).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Dual Column Previews with uploaded image display placeholders.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Single OCR scanner mode and double comparison mode.</a:t>
            </a:r>
          </a:p>
        </p:txBody>
      </p:sp>
      <p:pic>
        <p:nvPicPr>
          <p:cNvPr id="5" name="Picture 4" descr="ui_sand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27. Main Web Controller Logic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Client-side controller routing in JS.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Handles extraction, OCR, comparisons.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Single scanner vs Dual match flow check.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Shows loader overlay during calculations.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Catches errors and updates error container.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472B6"/>
                </a:solidFill>
                <a:latin typeface="Consolas"/>
              </a:rPr>
              <a:t>async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function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startScanner</a:t>
            </a:r>
            <a:r>
              <a:rPr sz="1000">
                <a:solidFill>
                  <a:srgbClr val="F1F5F9"/>
                </a:solidFill>
                <a:latin typeface="Consolas"/>
              </a:rPr>
              <a:t>()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overlay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38BDF8"/>
                </a:solidFill>
                <a:latin typeface="Consolas"/>
              </a:rPr>
              <a:t>document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getElementById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loader</a:t>
            </a:r>
            <a:r>
              <a:rPr sz="1000">
                <a:solidFill>
                  <a:srgbClr val="F1F5F9"/>
                </a:solidFill>
                <a:latin typeface="Consolas"/>
              </a:rPr>
              <a:t>-</a:t>
            </a:r>
            <a:r>
              <a:rPr sz="1000">
                <a:solidFill>
                  <a:srgbClr val="F1F5F9"/>
                </a:solidFill>
                <a:latin typeface="Consolas"/>
              </a:rPr>
              <a:t>overlay</a:t>
            </a:r>
            <a:r>
              <a:rPr sz="10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errorBox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38BDF8"/>
                </a:solidFill>
                <a:latin typeface="Consolas"/>
              </a:rPr>
              <a:t>document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getElementById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error</a:t>
            </a:r>
            <a:r>
              <a:rPr sz="1000">
                <a:solidFill>
                  <a:srgbClr val="F1F5F9"/>
                </a:solidFill>
                <a:latin typeface="Consolas"/>
              </a:rPr>
              <a:t>-</a:t>
            </a:r>
            <a:r>
              <a:rPr sz="1000">
                <a:solidFill>
                  <a:srgbClr val="F1F5F9"/>
                </a:solidFill>
                <a:latin typeface="Consolas"/>
              </a:rPr>
              <a:t>box</a:t>
            </a:r>
            <a:r>
              <a:rPr sz="10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>
                <a:solidFill>
                  <a:srgbClr val="F1F5F9"/>
                </a:solidFill>
                <a:latin typeface="Consolas"/>
              </a:rPr>
              <a:t>errorBox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style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display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DBA74"/>
                </a:solidFill>
                <a:latin typeface="Consolas"/>
              </a:rPr>
              <a:t>'none'</a:t>
            </a:r>
            <a:r>
              <a:rPr sz="10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>
                <a:solidFill>
                  <a:srgbClr val="F1F5F9"/>
                </a:solidFill>
                <a:latin typeface="Consolas"/>
              </a:rPr>
              <a:t>overlay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style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display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DBA74"/>
                </a:solidFill>
                <a:latin typeface="Consolas"/>
              </a:rPr>
              <a:t>'flex'</a:t>
            </a:r>
            <a:r>
              <a:rPr sz="10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try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t1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await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extractText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file1</a:t>
            </a:r>
            <a:r>
              <a:rPr sz="1000">
                <a:solidFill>
                  <a:srgbClr val="FDBA74"/>
                </a:solidFill>
                <a:latin typeface="Consolas"/>
              </a:rPr>
              <a:t>', '</a:t>
            </a:r>
            <a:r>
              <a:rPr sz="1000">
                <a:solidFill>
                  <a:srgbClr val="F1F5F9"/>
                </a:solidFill>
                <a:latin typeface="Consolas"/>
              </a:rPr>
              <a:t>text1</a:t>
            </a:r>
            <a:r>
              <a:rPr sz="1000">
                <a:solidFill>
                  <a:srgbClr val="FDBA74"/>
                </a:solidFill>
                <a:latin typeface="Consolas"/>
              </a:rPr>
              <a:t>', '</a:t>
            </a:r>
            <a:r>
              <a:rPr sz="1000">
                <a:solidFill>
                  <a:srgbClr val="F1F5F9"/>
                </a:solidFill>
                <a:latin typeface="Consolas"/>
              </a:rPr>
              <a:t>Document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A</a:t>
            </a:r>
            <a:r>
              <a:rPr sz="10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t2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await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extractText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file2</a:t>
            </a:r>
            <a:r>
              <a:rPr sz="1000">
                <a:solidFill>
                  <a:srgbClr val="FDBA74"/>
                </a:solidFill>
                <a:latin typeface="Consolas"/>
              </a:rPr>
              <a:t>', '</a:t>
            </a:r>
            <a:r>
              <a:rPr sz="1000">
                <a:solidFill>
                  <a:srgbClr val="F1F5F9"/>
                </a:solidFill>
                <a:latin typeface="Consolas"/>
              </a:rPr>
              <a:t>text2</a:t>
            </a:r>
            <a:r>
              <a:rPr sz="1000">
                <a:solidFill>
                  <a:srgbClr val="FDBA74"/>
                </a:solidFill>
                <a:latin typeface="Consolas"/>
              </a:rPr>
              <a:t>', '</a:t>
            </a:r>
            <a:r>
              <a:rPr sz="1000">
                <a:solidFill>
                  <a:srgbClr val="F1F5F9"/>
                </a:solidFill>
                <a:latin typeface="Consolas"/>
              </a:rPr>
              <a:t>Document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B</a:t>
            </a:r>
            <a:r>
              <a:rPr sz="10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if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(</a:t>
            </a:r>
            <a:r>
              <a:rPr sz="1000">
                <a:solidFill>
                  <a:srgbClr val="F1F5F9"/>
                </a:solidFill>
                <a:latin typeface="Consolas"/>
              </a:rPr>
              <a:t>t1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trim</a:t>
            </a:r>
            <a:r>
              <a:rPr sz="1000">
                <a:solidFill>
                  <a:srgbClr val="F1F5F9"/>
                </a:solidFill>
                <a:latin typeface="Consolas"/>
              </a:rPr>
              <a:t>()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&amp;&amp;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!</a:t>
            </a:r>
            <a:r>
              <a:rPr sz="1000">
                <a:solidFill>
                  <a:srgbClr val="F1F5F9"/>
                </a:solidFill>
                <a:latin typeface="Consolas"/>
              </a:rPr>
              <a:t>t2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trim</a:t>
            </a:r>
            <a:r>
              <a:rPr sz="1000">
                <a:solidFill>
                  <a:srgbClr val="F1F5F9"/>
                </a:solidFill>
                <a:latin typeface="Consolas"/>
              </a:rPr>
              <a:t>())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    </a:t>
            </a:r>
            <a:r>
              <a:rPr sz="1000">
                <a:solidFill>
                  <a:srgbClr val="F1F5F9"/>
                </a:solidFill>
                <a:latin typeface="Consolas"/>
              </a:rPr>
              <a:t>renderSingleScannerResult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A</a:t>
            </a:r>
            <a:r>
              <a:rPr sz="1000">
                <a:solidFill>
                  <a:srgbClr val="FDBA74"/>
                </a:solidFill>
                <a:latin typeface="Consolas"/>
              </a:rPr>
              <a:t>',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t1</a:t>
            </a:r>
            <a:r>
              <a:rPr sz="1000">
                <a:solidFill>
                  <a:srgbClr val="F1F5F9"/>
                </a:solidFill>
                <a:latin typeface="Consolas"/>
              </a:rPr>
              <a:t>,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file1</a:t>
            </a:r>
            <a:r>
              <a:rPr sz="10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else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    </a:t>
            </a:r>
            <a:r>
              <a:rPr sz="1000">
                <a:solidFill>
                  <a:srgbClr val="F1F5F9"/>
                </a:solidFill>
                <a:latin typeface="Consolas"/>
              </a:rPr>
              <a:t>renderComparisonResult</a:t>
            </a:r>
            <a:r>
              <a:rPr sz="1000">
                <a:solidFill>
                  <a:srgbClr val="F1F5F9"/>
                </a:solidFill>
                <a:latin typeface="Consolas"/>
              </a:rPr>
              <a:t>(</a:t>
            </a:r>
            <a:r>
              <a:rPr sz="1000">
                <a:solidFill>
                  <a:srgbClr val="F1F5F9"/>
                </a:solidFill>
                <a:latin typeface="Consolas"/>
              </a:rPr>
              <a:t>t1</a:t>
            </a:r>
            <a:r>
              <a:rPr sz="1000">
                <a:solidFill>
                  <a:srgbClr val="F1F5F9"/>
                </a:solidFill>
                <a:latin typeface="Consolas"/>
              </a:rPr>
              <a:t>,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t2</a:t>
            </a:r>
            <a:r>
              <a:rPr sz="10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catch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(</a:t>
            </a:r>
            <a:r>
              <a:rPr sz="1000">
                <a:solidFill>
                  <a:srgbClr val="F1F5F9"/>
                </a:solidFill>
                <a:latin typeface="Consolas"/>
              </a:rPr>
              <a:t>err</a:t>
            </a:r>
            <a:r>
              <a:rPr sz="1000">
                <a:solidFill>
                  <a:srgbClr val="F1F5F9"/>
                </a:solidFill>
                <a:latin typeface="Consolas"/>
              </a:rPr>
              <a:t>)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>
                <a:solidFill>
                  <a:srgbClr val="F1F5F9"/>
                </a:solidFill>
                <a:latin typeface="Consolas"/>
              </a:rPr>
              <a:t>errorBox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innerText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err</a:t>
            </a:r>
            <a:r>
              <a:rPr sz="10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28. Testing &amp; Validation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Tested offline OCR extraction with handwritten note scans (Math mappings and functions).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Tested digital PDF extraction page-by-page to check text stream reconstruction.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Verified similarity scores using identical and modified notes in the sandbox selector.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Confirmed that network firewalls have zero impact on scanning speeds or execution.</a:t>
            </a:r>
          </a:p>
        </p:txBody>
      </p:sp>
      <p:pic>
        <p:nvPicPr>
          <p:cNvPr id="5" name="Picture 4" descr="scanned_not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29. Advantages &amp; Limitations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Advantages: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  - 100% Serverless: Bypasses server maintenance fees and offline/online proxy socket blocks.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  - Data Privacy: Files are processed completely in the browser and never sent online.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  - Mobile Responsive: Renders cleanly on phones and tablets during presentations.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Limitations: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  - CPU Bound: Heavy files take longer to scan via client-side JavaScript threads.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  - No Database: Similarity reports cannot be saved in a remote history database.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30. Future Scope</a:t>
            </a:r>
          </a:p>
        </p:txBody>
      </p:sp>
      <p:pic>
        <p:nvPicPr>
          <p:cNvPr id="3" name="Picture 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74320"/>
            <a:ext cx="310896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Multi-Language OCR: Add dropdown support for Spanish, Hindi, or French training models.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Web Link comparisons: Paste direct URLs to fetch and check similarity against live websites.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PDF report downloads: Compile plagiarism match reports directly in the browser to download offline.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475569"/>
                </a:solidFill>
                <a:latin typeface="Segoe UI"/>
              </a:defRPr>
            </a:pPr>
            <a:r>
              <a:t>• Sentence Embeddings: Integrate client-side Transformers (like ONNX) for semantic similarity matching.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F46E5"/>
                </a:solidFill>
                <a:latin typeface="Segoe UI"/>
              </a:defRPr>
            </a:pPr>
            <a:r>
              <a:t>31.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475569"/>
                </a:solidFill>
                <a:latin typeface="Segoe UI"/>
              </a:defRPr>
            </a:pPr>
            <a:r>
              <a:t>We have successfully built a fully serverless, client-side document similarity and duplicate detection system using Tesseract.js, PDF.js, and Mammoth.js.</a:t>
            </a:r>
            <a:br/>
            <a:br/>
            <a:r>
              <a:t>The project demonstrates that advanced AI parsing and NLP comparison algorithms can run completely locally on consumer browser engines, eliminating the need for expensive GPU-hosting setups.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89120"/>
            <a:ext cx="10817352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4F46E5"/>
                </a:solidFill>
                <a:latin typeface="Segoe UI"/>
              </a:defRPr>
            </a:pPr>
            <a:r>
              <a:t>THANK YOU</a:t>
            </a:r>
            <a:br/>
            <a:br/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